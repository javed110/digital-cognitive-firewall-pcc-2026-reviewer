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8ea3738ea44391" /><Relationship Type="http://schemas.openxmlformats.org/officeDocument/2006/relationships/extended-properties" Target="/docProps/app.xml" Id="Rad008e552ea74b75" /><Relationship Type="http://schemas.openxmlformats.org/officeDocument/2006/relationships/officeDocument" Target="/ppt/presentation.xml" Id="R833f8d41ed0f4052" /></Relationships>
</file>

<file path=ppt/presentation.xml><?xml version="1.0" encoding="utf-8"?>
<p:presentation xmlns:p="http://schemas.openxmlformats.org/presentationml/2006/main">
  <p:sldMasterIdLst>
    <p:sldMasterId xmlns:r="http://schemas.openxmlformats.org/officeDocument/2006/relationships" id="2147483648" r:id="Rff15fcba20b24bdd"/>
  </p:sldMasterIdLst>
  <p:notesMasterIdLst>
    <p:notesMasterId xmlns:r="http://schemas.openxmlformats.org/officeDocument/2006/relationships" r:id="R886bcb7deaa8451d"/>
  </p:notesMasterIdLst>
  <p:sldIdLst>
    <p:sldId xmlns:r="http://schemas.openxmlformats.org/officeDocument/2006/relationships" id="256" r:id="Re2ecdc44690d468d"/>
    <p:sldId xmlns:r="http://schemas.openxmlformats.org/officeDocument/2006/relationships" id="257" r:id="Rf9e2c3aedf394e0c"/>
    <p:sldId xmlns:r="http://schemas.openxmlformats.org/officeDocument/2006/relationships" id="258" r:id="Rcd103d8cff404304"/>
    <p:sldId xmlns:r="http://schemas.openxmlformats.org/officeDocument/2006/relationships" id="259" r:id="R875bb6d4fc0444a8"/>
    <p:sldId xmlns:r="http://schemas.openxmlformats.org/officeDocument/2006/relationships" id="260" r:id="R7a59316c6cb0451f"/>
    <p:sldId xmlns:r="http://schemas.openxmlformats.org/officeDocument/2006/relationships" id="261" r:id="Rf9b3f709cf5543dc"/>
    <p:sldId xmlns:r="http://schemas.openxmlformats.org/officeDocument/2006/relationships" id="262" r:id="Rd5461ffee87341e7"/>
    <p:sldId xmlns:r="http://schemas.openxmlformats.org/officeDocument/2006/relationships" id="263" r:id="R5a2770cf69e34af1"/>
    <p:sldId xmlns:r="http://schemas.openxmlformats.org/officeDocument/2006/relationships" id="264" r:id="Ra080ace45e394b86"/>
    <p:sldId xmlns:r="http://schemas.openxmlformats.org/officeDocument/2006/relationships" id="265" r:id="R938699f558124e76"/>
    <p:sldId xmlns:r="http://schemas.openxmlformats.org/officeDocument/2006/relationships" id="266" r:id="Rc8412a604a424aeb"/>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1f7809b186a4550" /><Relationship Type="http://schemas.openxmlformats.org/officeDocument/2006/relationships/slideMaster" Target="/ppt/slideMasters/slideMaster1.xml" Id="Rff15fcba20b24bdd" /><Relationship Type="http://schemas.openxmlformats.org/officeDocument/2006/relationships/notesMaster" Target="/ppt/notesMasters/notesMaster1.xml" Id="R886bcb7deaa8451d" /><Relationship Type="http://schemas.openxmlformats.org/officeDocument/2006/relationships/presProps" Target="/ppt/presProps.xml" Id="Rba269f468ef1464a" /><Relationship Type="http://schemas.openxmlformats.org/officeDocument/2006/relationships/viewProps" Target="/ppt/viewProps.xml" Id="R090eebafc5004723" /><Relationship Type="http://schemas.openxmlformats.org/officeDocument/2006/relationships/tableStyles" Target="/ppt/tableStyles.xml" Id="R375d1493d8d947f2" /><Relationship Type="http://schemas.openxmlformats.org/officeDocument/2006/relationships/slide" Target="/ppt/slides/slide1.xml" Id="Re2ecdc44690d468d" /><Relationship Type="http://schemas.openxmlformats.org/officeDocument/2006/relationships/slide" Target="/ppt/slides/slide2.xml" Id="Rf9e2c3aedf394e0c" /><Relationship Type="http://schemas.openxmlformats.org/officeDocument/2006/relationships/slide" Target="/ppt/slides/slide3.xml" Id="Rcd103d8cff404304" /><Relationship Type="http://schemas.openxmlformats.org/officeDocument/2006/relationships/slide" Target="/ppt/slides/slide4.xml" Id="R875bb6d4fc0444a8" /><Relationship Type="http://schemas.openxmlformats.org/officeDocument/2006/relationships/slide" Target="/ppt/slides/slide5.xml" Id="R7a59316c6cb0451f" /><Relationship Type="http://schemas.openxmlformats.org/officeDocument/2006/relationships/slide" Target="/ppt/slides/slide6.xml" Id="Rf9b3f709cf5543dc" /><Relationship Type="http://schemas.openxmlformats.org/officeDocument/2006/relationships/slide" Target="/ppt/slides/slide7.xml" Id="Rd5461ffee87341e7" /><Relationship Type="http://schemas.openxmlformats.org/officeDocument/2006/relationships/slide" Target="/ppt/slides/slide8.xml" Id="R5a2770cf69e34af1" /><Relationship Type="http://schemas.openxmlformats.org/officeDocument/2006/relationships/slide" Target="/ppt/slides/slide9.xml" Id="Ra080ace45e394b86" /><Relationship Type="http://schemas.openxmlformats.org/officeDocument/2006/relationships/slide" Target="/ppt/slides/slide10.xml" Id="R938699f558124e76" /><Relationship Type="http://schemas.openxmlformats.org/officeDocument/2006/relationships/slide" Target="/ppt/slides/slide11.xml" Id="Rc8412a604a424a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8fb81f1a1b42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820609488147d1" /><Relationship Type="http://schemas.openxmlformats.org/officeDocument/2006/relationships/notesMaster" Target="/ppt/notesMasters/notesMaster1.xml" Id="R8eb41ec771cf47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593daa1b264147" /><Relationship Type="http://schemas.openxmlformats.org/officeDocument/2006/relationships/notesMaster" Target="/ppt/notesMasters/notesMaster1.xml" Id="R5ba9d120df394e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03e2ada144c93" /><Relationship Type="http://schemas.openxmlformats.org/officeDocument/2006/relationships/notesMaster" Target="/ppt/notesMasters/notesMaster1.xml" Id="Rba478679e23b41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64c3e3319e4faa" /><Relationship Type="http://schemas.openxmlformats.org/officeDocument/2006/relationships/notesMaster" Target="/ppt/notesMasters/notesMaster1.xml" Id="R757895e901d944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dd86b712f24949" /><Relationship Type="http://schemas.openxmlformats.org/officeDocument/2006/relationships/notesMaster" Target="/ppt/notesMasters/notesMaster1.xml" Id="R7bdee6e2ed3946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99a2c71626405e" /><Relationship Type="http://schemas.openxmlformats.org/officeDocument/2006/relationships/notesMaster" Target="/ppt/notesMasters/notesMaster1.xml" Id="Rde1cd7ba241a48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cb5093c0d340d5" /><Relationship Type="http://schemas.openxmlformats.org/officeDocument/2006/relationships/notesMaster" Target="/ppt/notesMasters/notesMaster1.xml" Id="Rb1e84713866b43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823f1912274dc0" /><Relationship Type="http://schemas.openxmlformats.org/officeDocument/2006/relationships/notesMaster" Target="/ppt/notesMasters/notesMaster1.xml" Id="R0d13323d08b24f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ae31a47f0b4624" /><Relationship Type="http://schemas.openxmlformats.org/officeDocument/2006/relationships/notesMaster" Target="/ppt/notesMasters/notesMaster1.xml" Id="R9b8e1e2ab2ae4d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d5c10143ff4caa" /><Relationship Type="http://schemas.openxmlformats.org/officeDocument/2006/relationships/notesMaster" Target="/ppt/notesMasters/notesMaster1.xml" Id="Rbcf4f187195e4b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25f2f5bd234880" /><Relationship Type="http://schemas.openxmlformats.org/officeDocument/2006/relationships/notesMaster" Target="/ppt/notesMasters/notesMaster1.xml" Id="Rb7903162fb6a46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affiliations confirmed by the applicant on 22 October 2026. Official roles, qualifications, mentor and contacts remain unconfirmed. Proposed AI and behavioural system remains at concept stage. The distributed rule demonstrator is a separate reproducible adjunct.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 cues and human context: Dawkins and Jacobs, NIST TN 2276 (2023), https://csrc.nist.gov/pubs/tn/2276/final. A cue is not proof of intent and does not authenticate a sender.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hypothesis, not an observed user-study result. The current tool uses deterministic rules. Compare explanations against generic warnings only after a prospective, approved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retained from the supplied presentation as synthetic training. No live military system, order, authentication or operational action is demonstrated. Source language about genuine orders describes scenario labels, not verified sender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and warning burden motivate evaluation. Sources: https://csrc.nist.gov/pubs/tn/2276/final and Vance et al., SOUPS 2019, https://www.usenix.org/conference/soups2019/presentation/vance. Panic sensing and message sanitising are future research concepts without validation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Executable evidence: app/analyzer.mjs, app/ui.mjs, tests/cases.json and evidence/regression-results.json in the public reviewer repository. Rules provide categories, not probabilities. Domains are optional user input. No DNS, URL fetch or inbox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describes the actual delivered rule demonstrator. Source concept also proposes a manipulation classifier, behavioural panic detector, context-aware filter, message sanitiser and graded response. These remain proposed. Exact original weights and thresholds were unavailable in the supplied 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 art: Dawkins and Jacobs (2023), https://csrc.nist.gov/pubs/tn/2276/final. Roy, Torres and Nilizadeh (2025), PhishXplain preprint v2, https://arxiv.org/abs/2505.06836. Vance et al. (2019), https://www.usenix.org/conference/soups2019/presentation/vance. These sources establish precedents, not performance of this implementation. Focused desk review, not exhaustive patent or market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28/28 author-defined synthetic regression checks: 24 documented message cases plus 4 input-boundary cases. This is not classification accuracy, a held-out benchmark, an independent audit or a human-benefit estimate. Source slide 91% was explicitly illustrative and has been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Milestones are proposed planning gates, not commitments. Source-reported targets F1 &gt;= 0.90 and false-positive rate &lt;= 5% are unvalidated and require independent labels, held-out families, defined denominators and uncertainty. Source-reported PKR 6.5 million budget requires applicant confirmation and itemized costing. English/Urdu coverage and behavioural sensing require separate validation. No recruitment or deployment is authorized by this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materials: https://github.com/javed110/digital-cognitive-firewall-pcc-2026-reviewer. Link directory: https://github.com/javed110/digital-cognitive-firewall-pcc-2026-reviewer/blob/main/docs/TEMPLATE_LINKS.md. The recorded video shows the separate delivered rule demonstrator. The original private artifact and missing iframe code have not been recovered. Applicant declaration and pending details remain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306ce77f0f44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6a97cd9f9c4c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6c0b961f8c4a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15db71c8d241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1ee4d1761947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e4c0c338204cc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e4cbb9c6cf4d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37bf0836eee4fc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8f37ee948c6463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8bb4a72b4b743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86884c410b5453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C2894F-9F29-48D9-8682-86CEB05DF70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4316E10-656B-4B22-874F-929E5E47A11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7E47A5D-F57B-4F7D-A547-31B9438538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35F1489-E5E0-498C-B484-EEBA1268F5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E56C0D8-4555-4CDD-A030-F190971EF9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5BF8B0-3694-4E61-B18A-ACD7843AE8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A43193-2893-40F7-8D56-FC5B77E68A7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6FFBC77-6111-4B08-8F59-9B26B41A71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593A572-214F-4162-A1C5-76DBA3FDF1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95DED3-9857-4695-9A6B-39445F6070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58E629-F915-4B67-8583-8ED410D4D19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8374528-C6CF-431F-8A21-0B6B9D9570E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7E774DD-5976-4A75-A075-62D0339353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E07056A-24CE-4AF1-BAAF-4562A24169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CDBFB20-C193-4B41-B23D-7F7F803A8A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A94FA8-62DB-4340-9E7B-10E9BF2289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5DD240-93C0-45B7-9CD6-F32F37683A5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E3898A2-30D8-4A10-B9A7-033676E7370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3438DE9B-5926-4FB0-9469-5550A272F5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33BFD8A-76F2-4817-8EEA-7992BB2AC4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1BB9120-D8E0-4CCA-A551-76342B7C93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3FA60F-4947-43D8-9161-45AF507F09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5DF2CBD-0E63-4EDD-A1D2-7834C0F9398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A5893A4-4B34-4018-A46F-888A6559B42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D4FEEB9-75D9-4E20-97EC-0849D9AE511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8935192-D2FD-4DB8-BC9D-6CE314956EB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477BCA5-4527-4DF5-A27E-84E93EEFB2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95ADA75B-0AAA-4A31-B9C8-72D4531094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20CC2A8-B63A-45C9-ADAF-9C454FCB69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5D2290-A757-4BC8-B8DA-DF26E2F9AE3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71D83FC1-5CDB-4143-A6B4-3B3A7185C4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565F06FB-9B6D-46F5-B7F0-4ECFDAB583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147626A-1883-402F-9557-E5D8FE0B56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189E586-D7C4-4A64-AD43-4DE329D8C4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C4078C5-4927-4860-86F5-EFF410BAB3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655ED0E-6ED6-41C9-A311-058F61BF8D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FC3E42-1428-456A-A344-E0972E57DC0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9DF9D71-169B-4DF6-AA50-2AD5E317898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D79BBFD-3711-4F47-BF51-6FD986E040A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0AB12F1-F65E-4AFA-85E8-BE694F05EE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3ACCEE4-B0F9-44AD-A485-6A140946CA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D996E50-6414-40EE-9C56-C1C57048FF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1EF2F9-D004-4F14-BE02-48FF8DF34942}"/>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8014DCC-EF4C-442A-B92F-1B0F1DA0A67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89F6F1C-29FE-440C-AE41-DF2D0113D68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FE3672-9D10-46A1-B877-4D994BFEA1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E812819-4D5A-4408-A0B8-C7F8F11E0F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5327234-2DF9-4C02-A673-B6E13C478F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40F9C8-CE99-4387-BEEE-7B22BA7A21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B0DD1FD-B0A6-4F58-B975-9EFA2FE13A6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38C1A25-C923-4611-A9E6-0A340D29DC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CA07696-0631-4D73-A507-46FB46E678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8135437-3A84-4D94-88CF-ADDAD2C1BC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DB92D29-B780-4F9C-804E-2A3D17AB259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9E07285-E353-45F8-9A5D-DF757B3D063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09D28A1-0A32-4A63-B689-9898646909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FE78493-5FE3-43AB-A29E-6E237D58A2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E831C5-62F3-456F-A997-790928A48A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1da581852a45da" /><Relationship Type="http://schemas.openxmlformats.org/officeDocument/2006/relationships/slideLayout" Target="/ppt/slideLayouts/slideLayout1.xml" Id="R6f5d47df5c1344b4" /><Relationship Type="http://schemas.openxmlformats.org/officeDocument/2006/relationships/slideLayout" Target="/ppt/slideLayouts/slideLayout2.xml" Id="Rd4d8b5cbc67f4f24" /><Relationship Type="http://schemas.openxmlformats.org/officeDocument/2006/relationships/slideLayout" Target="/ppt/slideLayouts/slideLayout3.xml" Id="Rd71f8499dc714c84" /><Relationship Type="http://schemas.openxmlformats.org/officeDocument/2006/relationships/slideLayout" Target="/ppt/slideLayouts/slideLayout4.xml" Id="R076b4863cca54b1a" /><Relationship Type="http://schemas.openxmlformats.org/officeDocument/2006/relationships/slideLayout" Target="/ppt/slideLayouts/slideLayout5.xml" Id="R73bb03bd82584b29" /><Relationship Type="http://schemas.openxmlformats.org/officeDocument/2006/relationships/slideLayout" Target="/ppt/slideLayouts/slideLayout6.xml" Id="Rbac9a05708894b48" /><Relationship Type="http://schemas.openxmlformats.org/officeDocument/2006/relationships/slideLayout" Target="/ppt/slideLayouts/slideLayout7.xml" Id="R1aa11ac124a84c42" /><Relationship Type="http://schemas.openxmlformats.org/officeDocument/2006/relationships/slideLayout" Target="/ppt/slideLayouts/slideLayout8.xml" Id="Rdb9b520a5b144e2a" /><Relationship Type="http://schemas.openxmlformats.org/officeDocument/2006/relationships/slideLayout" Target="/ppt/slideLayouts/slideLayout9.xml" Id="R49e03448307b492f" /><Relationship Type="http://schemas.openxmlformats.org/officeDocument/2006/relationships/slideLayout" Target="/ppt/slideLayouts/slideLayout10.xml" Id="R1f13ccb0fb6e47aa" /><Relationship Type="http://schemas.openxmlformats.org/officeDocument/2006/relationships/slideLayout" Target="/ppt/slideLayouts/slideLayout11.xml" Id="R9bfa955e9f3b4ff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6C7F7C8-12A8-4928-A66A-EE572FD8013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FBAEB10-165E-4337-B603-EF2044A4565B}"/>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1B92B00-5E5A-4A84-9AA5-545E43863BF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A215E0E-2DBD-495B-9C27-A8F3FF9EAA6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D400C1-2093-44B4-9F2D-E972B688356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5d47df5c1344b4"/>
    <p:sldLayoutId xmlns:r="http://schemas.openxmlformats.org/officeDocument/2006/relationships" id="2147483650" r:id="Rd4d8b5cbc67f4f24"/>
    <p:sldLayoutId xmlns:r="http://schemas.openxmlformats.org/officeDocument/2006/relationships" id="2147483651" r:id="Rd71f8499dc714c84"/>
    <p:sldLayoutId xmlns:r="http://schemas.openxmlformats.org/officeDocument/2006/relationships" id="2147483652" r:id="R076b4863cca54b1a"/>
    <p:sldLayoutId xmlns:r="http://schemas.openxmlformats.org/officeDocument/2006/relationships" id="2147483653" r:id="R73bb03bd82584b29"/>
    <p:sldLayoutId xmlns:r="http://schemas.openxmlformats.org/officeDocument/2006/relationships" id="2147483654" r:id="Rbac9a05708894b48"/>
    <p:sldLayoutId xmlns:r="http://schemas.openxmlformats.org/officeDocument/2006/relationships" id="2147483655" r:id="R1aa11ac124a84c42"/>
    <p:sldLayoutId xmlns:r="http://schemas.openxmlformats.org/officeDocument/2006/relationships" id="2147483656" r:id="Rdb9b520a5b144e2a"/>
    <p:sldLayoutId xmlns:r="http://schemas.openxmlformats.org/officeDocument/2006/relationships" id="2147483657" r:id="R49e03448307b492f"/>
    <p:sldLayoutId xmlns:r="http://schemas.openxmlformats.org/officeDocument/2006/relationships" id="2147483658" r:id="R1f13ccb0fb6e47aa"/>
    <p:sldLayoutId xmlns:r="http://schemas.openxmlformats.org/officeDocument/2006/relationships" id="2147483659" r:id="R9bfa955e9f3b4ff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e3951fba9e24210" /><Relationship Type="http://schemas.openxmlformats.org/officeDocument/2006/relationships/notesSlide" Target="/ppt/notesSlides/notesSlide1.xml" Id="R1aa4d0512c4c4e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4c83e15f8a041d6" /><Relationship Type="http://schemas.openxmlformats.org/officeDocument/2006/relationships/notesSlide" Target="/ppt/notesSlides/notesSlide2.xml" Id="Redaa09b8522542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fbe49319e4444da" /><Relationship Type="http://schemas.openxmlformats.org/officeDocument/2006/relationships/notesSlide" Target="/ppt/notesSlides/notesSlide3.xml" Id="Re012ff5e9ba245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23a677a5cb64bc9" /><Relationship Type="http://schemas.openxmlformats.org/officeDocument/2006/relationships/notesSlide" Target="/ppt/notesSlides/notesSlide4.xml" Id="R69a1747743524e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b9a86476e514be9" /><Relationship Type="http://schemas.openxmlformats.org/officeDocument/2006/relationships/notesSlide" Target="/ppt/notesSlides/notesSlide5.xml" Id="Rc1281b78ba7442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aaee9a96b984c97" /><Relationship Type="http://schemas.openxmlformats.org/officeDocument/2006/relationships/notesSlide" Target="/ppt/notesSlides/notesSlide6.xml" Id="R0236d2dbdbe24e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b1c187fcd4f4252" /><Relationship Type="http://schemas.openxmlformats.org/officeDocument/2006/relationships/notesSlide" Target="/ppt/notesSlides/notesSlide7.xml" Id="R34c8c7565b5348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e7c2f7cd6bf40f5" /><Relationship Type="http://schemas.openxmlformats.org/officeDocument/2006/relationships/notesSlide" Target="/ppt/notesSlides/notesSlide8.xml" Id="R89e30a5314554d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bbf013695a34820" /><Relationship Type="http://schemas.openxmlformats.org/officeDocument/2006/relationships/notesSlide" Target="/ppt/notesSlides/notesSlide9.xml" Id="R704b304dddb649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12a48d7e48a45f6" /><Relationship Type="http://schemas.openxmlformats.org/officeDocument/2006/relationships/notesSlide" Target="/ppt/notesSlides/notesSlide10.xml" Id="R269cc9c3b6e247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d20272fd473e4598" /><Relationship Type="http://schemas.openxmlformats.org/officeDocument/2006/relationships/hyperlink" Target="https://github.com/javed110/digital-cognitive-firewall-pcc-2026-reviewer" TargetMode="External" Id="R32f7e44d6bdf44dd" /><Relationship Type="http://schemas.openxmlformats.org/officeDocument/2006/relationships/hyperlink" Target="https://github.com/javed110/digital-cognitive-firewall-pcc-2026-reviewer/blob/main/docs/TEMPLATE_LINKS.md" TargetMode="External" Id="Raf438dbc451649af" /><Relationship Type="http://schemas.openxmlformats.org/officeDocument/2006/relationships/notesSlide" Target="/ppt/notesSlides/notesSlide11.xml" Id="R43c62c2e7faa4b6f" /></Relationships>
</file>

<file path=ppt/slides/slide1.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97CD05C-0221-42B7-8331-4D9555A290A5}"/>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0984A938-7B4B-45AA-A370-259D2F238303}"/>
              </a:ext>
            </a:extLst>
          </p:cNvPr>
          <p:cNvSpPr>
            <a:spLocks xmlns:a="http://schemas.openxmlformats.org/drawingml/2006/main" noGrp="1"/>
          </p:cNvSpPr>
          <p:nvPr/>
        </p:nvSpPr>
        <p:spPr>
          <a:xfrm xmlns:a="http://schemas.openxmlformats.org/drawingml/2006/main">
            <a:off x="8869680" y="914400"/>
            <a:ext cx="2286000" cy="2286000"/>
          </a:xfrm>
          <a:prstGeom xmlns:a="http://schemas.openxmlformats.org/drawingml/2006/main" prst="ellipse">
            <a:avLst/>
          </a:prstGeom>
          <a:noFill xmlns:a="http://schemas.openxmlformats.org/drawingml/2006/main"/>
          <a:ln xmlns:a="http://schemas.openxmlformats.org/drawingml/2006/main" w="25400">
            <a:solidFill>
              <a:srgbClr val="267B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3C3466F7-2377-46C0-AF62-8E46C8682BDB}"/>
              </a:ext>
            </a:extLst>
          </p:cNvPr>
          <p:cNvSpPr>
            <a:spLocks xmlns:a="http://schemas.openxmlformats.org/drawingml/2006/main" noGrp="1"/>
          </p:cNvSpPr>
          <p:nvPr/>
        </p:nvSpPr>
        <p:spPr>
          <a:xfrm xmlns:a="http://schemas.openxmlformats.org/drawingml/2006/main">
            <a:off x="9646920" y="1600200"/>
            <a:ext cx="1463040" cy="1463040"/>
          </a:xfrm>
          <a:prstGeom xmlns:a="http://schemas.openxmlformats.org/drawingml/2006/main" prst="ellipse">
            <a:avLst/>
          </a:prstGeom>
          <a:noFill xmlns:a="http://schemas.openxmlformats.org/drawingml/2006/main"/>
          <a:ln xmlns:a="http://schemas.openxmlformats.org/drawingml/2006/main" w="25400">
            <a:solidFill>
              <a:srgbClr val="2ADA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46807CAA-45D1-4FCB-8272-A387707F093C}"/>
              </a:ext>
            </a:extLst>
          </p:cNvPr>
          <p:cNvSpPr>
            <a:spLocks xmlns:a="http://schemas.openxmlformats.org/drawingml/2006/main" noGrp="1"/>
          </p:cNvSpPr>
          <p:nvPr/>
        </p:nvSpPr>
        <p:spPr>
          <a:xfrm xmlns:a="http://schemas.openxmlformats.org/drawingml/2006/main">
            <a:off x="8275320" y="2423160"/>
            <a:ext cx="914400" cy="914400"/>
          </a:xfrm>
          <a:prstGeom xmlns:a="http://schemas.openxmlformats.org/drawingml/2006/main" prst="ellipse">
            <a:avLst/>
          </a:prstGeom>
          <a:noFill xmlns:a="http://schemas.openxmlformats.org/drawingml/2006/main"/>
          <a:ln xmlns:a="http://schemas.openxmlformats.org/drawingml/2006/main" w="25400">
            <a:solidFill>
              <a:srgbClr val="19488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3D88E88-D44A-4367-8B31-F543492BF20A}"/>
              </a:ext>
            </a:extLst>
          </p:cNvPr>
          <p:cNvSpPr>
            <a:spLocks xmlns:a="http://schemas.openxmlformats.org/drawingml/2006/main" noGrp="1"/>
          </p:cNvSpPr>
          <p:nvPr/>
        </p:nvSpPr>
        <p:spPr>
          <a:xfrm xmlns:a="http://schemas.openxmlformats.org/drawingml/2006/main">
            <a:off x="777240" y="987552"/>
            <a:ext cx="713232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200" b="1" i="0">
                <a:solidFill>
                  <a:srgbClr val="2ADAF5"/>
                </a:solidFill>
                <a:latin typeface="Aptos"/>
                <a:ea typeface="Aptos"/>
                <a:cs typeface="Aptos"/>
              </a:rPr>
              <a:t>PCC 2026 / RESEARCH CONCEPT</a:t>
            </a:r>
          </a:p>
        </p:txBody>
      </p:sp>
      <p:sp>
        <p:nvSpPr>
          <p:cNvPr id="7" name="TextBox 6">
            <a:extLst xmlns:a="http://schemas.openxmlformats.org/drawingml/2006/main">
              <a:ext uri="{FF2B5EF4-FFF2-40B4-BE49-F238E27FC236}">
                <a16:creationId xmlns:a16="http://schemas.microsoft.com/office/drawing/2014/main" id="{B78A41F1-66F4-4618-B871-9B3E467B6C6D}"/>
              </a:ext>
            </a:extLst>
          </p:cNvPr>
          <p:cNvSpPr>
            <a:spLocks xmlns:a="http://schemas.openxmlformats.org/drawingml/2006/main" noGrp="1"/>
          </p:cNvSpPr>
          <p:nvPr/>
        </p:nvSpPr>
        <p:spPr>
          <a:xfrm xmlns:a="http://schemas.openxmlformats.org/drawingml/2006/main">
            <a:off x="749808" y="1508760"/>
            <a:ext cx="7863840" cy="17373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3400" b="1" i="0">
                <a:solidFill>
                  <a:srgbClr val="FAFCFF"/>
                </a:solidFill>
                <a:latin typeface="Aptos"/>
                <a:ea typeface="Aptos"/>
                <a:cs typeface="Aptos"/>
              </a:rPr>
              <a:t>DIGITAL</a:t>
            </a:r>
            <a:br>
              <a:rPr sz="3400" b="1" i="0">
                <a:solidFill>
                  <a:srgbClr val="FAFCFF"/>
                </a:solidFill>
                <a:latin typeface="Aptos"/>
                <a:ea typeface="Aptos"/>
                <a:cs typeface="Aptos"/>
              </a:rPr>
            </a:br>
            <a:r>
              <a:rPr sz="3400" b="1" i="0">
                <a:solidFill>
                  <a:srgbClr val="FAFCFF"/>
                </a:solidFill>
                <a:latin typeface="Aptos"/>
                <a:ea typeface="Aptos"/>
                <a:cs typeface="Aptos"/>
              </a:rPr>
              <a:t>COGNITIVE FIREWALL</a:t>
            </a:r>
          </a:p>
        </p:txBody>
      </p:sp>
      <p:sp>
        <p:nvSpPr>
          <p:cNvPr id="8" name="TextBox 7">
            <a:extLst xmlns:a="http://schemas.openxmlformats.org/drawingml/2006/main">
              <a:ext uri="{FF2B5EF4-FFF2-40B4-BE49-F238E27FC236}">
                <a16:creationId xmlns:a16="http://schemas.microsoft.com/office/drawing/2014/main" id="{9571FD47-E764-4EEA-816C-CA5178528C2B}"/>
              </a:ext>
            </a:extLst>
          </p:cNvPr>
          <p:cNvSpPr>
            <a:spLocks xmlns:a="http://schemas.openxmlformats.org/drawingml/2006/main" noGrp="1"/>
          </p:cNvSpPr>
          <p:nvPr/>
        </p:nvSpPr>
        <p:spPr>
          <a:xfrm xmlns:a="http://schemas.openxmlformats.org/drawingml/2006/main">
            <a:off x="804672" y="3493008"/>
            <a:ext cx="6949440" cy="7762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200" b="0" i="0">
                <a:solidFill>
                  <a:srgbClr val="DEEEFF"/>
                </a:solidFill>
                <a:latin typeface="Aptos"/>
                <a:ea typeface="Aptos"/>
                <a:cs typeface="Aptos"/>
              </a:rPr>
              <a:t>Supporting Human Judgment Against</a:t>
            </a:r>
          </a:p>
          <a:p xmlns:a="http://schemas.openxmlformats.org/drawingml/2006/main">
            <a:pPr algn="l">
              <a:spcAft>
                <a:spcPts val="400"/>
              </a:spcAft>
              <a:buNone/>
            </a:pPr>
            <a:r>
              <a:rPr sz="2200" b="0" i="0">
                <a:solidFill>
                  <a:srgbClr val="DEEEFF"/>
                </a:solidFill>
                <a:latin typeface="Aptos"/>
                <a:ea typeface="Aptos"/>
                <a:cs typeface="Aptos"/>
              </a:rPr>
              <a:t>Social Engineering</a:t>
            </a:r>
          </a:p>
        </p:txBody>
      </p:sp>
      <p:sp>
        <p:nvSpPr>
          <p:cNvPr id="9" name="Rounded Rectangle 8">
            <a:extLst xmlns:a="http://schemas.openxmlformats.org/drawingml/2006/main">
              <a:ext uri="{FF2B5EF4-FFF2-40B4-BE49-F238E27FC236}">
                <a16:creationId xmlns:a16="http://schemas.microsoft.com/office/drawing/2014/main" id="{0260483B-8BBF-410D-9418-0C57AF02D1D1}"/>
              </a:ext>
            </a:extLst>
          </p:cNvPr>
          <p:cNvSpPr>
            <a:spLocks xmlns:a="http://schemas.openxmlformats.org/drawingml/2006/main" noGrp="1"/>
          </p:cNvSpPr>
          <p:nvPr/>
        </p:nvSpPr>
        <p:spPr>
          <a:xfrm xmlns:a="http://schemas.openxmlformats.org/drawingml/2006/main">
            <a:off x="804672" y="4709160"/>
            <a:ext cx="4160520" cy="384048"/>
          </a:xfrm>
          <a:prstGeom xmlns:a="http://schemas.openxmlformats.org/drawingml/2006/main" prst="round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7B57E07-7731-4715-9839-A7BEDD7C57EF}"/>
              </a:ext>
            </a:extLst>
          </p:cNvPr>
          <p:cNvSpPr>
            <a:spLocks xmlns:a="http://schemas.openxmlformats.org/drawingml/2006/main" noGrp="1"/>
          </p:cNvSpPr>
          <p:nvPr/>
        </p:nvSpPr>
        <p:spPr>
          <a:xfrm xmlns:a="http://schemas.openxmlformats.org/drawingml/2006/main">
            <a:off x="859536" y="4745736"/>
            <a:ext cx="4050791"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CYBERSECURITY AND CYBERPSYCHOLOGY</a:t>
            </a:r>
          </a:p>
        </p:txBody>
      </p:sp>
      <p:sp>
        <p:nvSpPr>
          <p:cNvPr id="11" name="TextBox 10">
            <a:extLst xmlns:a="http://schemas.openxmlformats.org/drawingml/2006/main">
              <a:ext uri="{FF2B5EF4-FFF2-40B4-BE49-F238E27FC236}">
                <a16:creationId xmlns:a16="http://schemas.microsoft.com/office/drawing/2014/main" id="{A3C08B98-6336-4AB3-8849-A0CCA02D93CE}"/>
              </a:ext>
            </a:extLst>
          </p:cNvPr>
          <p:cNvSpPr>
            <a:spLocks xmlns:a="http://schemas.openxmlformats.org/drawingml/2006/main" noGrp="1"/>
          </p:cNvSpPr>
          <p:nvPr/>
        </p:nvSpPr>
        <p:spPr>
          <a:xfrm xmlns:a="http://schemas.openxmlformats.org/drawingml/2006/main">
            <a:off x="804672" y="5610225"/>
            <a:ext cx="3915664" cy="562864"/>
          </a:xfrm>
          <a:prstGeom xmlns:a="http://schemas.openxmlformats.org/drawingml/2006/main" prst="rect">
            <a:avLst/>
          </a:prstGeom>
          <a:noFill xmlns:a="http://schemas.openxmlformats.org/drawingml/2006/main"/>
        </p:spPr>
        <p:txBody>
          <a:bodyPr xmlns:a="http://schemas.openxmlformats.org/drawingml/2006/main" wrap="none" lIns="27432" tIns="27432" rIns="27432" bIns="27432" anchor="t">
            <a:spAutoFit/>
          </a:bodyPr>
          <a:lstStyle xmlns:a="http://schemas.openxmlformats.org/drawingml/2006/main">
            <a:defPPr>
              <a:defRPr sz="1500">
                <a:solidFill>
                  <a:srgbClr val="9EB7D7"/>
                </a:solidFill>
                <a:latin typeface="Aptos"/>
                <a:ea typeface="Aptos"/>
                <a:cs typeface="Aptos"/>
              </a:defRPr>
            </a:defPPr>
            <a:lvl1pPr>
              <a:defRPr sz="1500">
                <a:solidFill>
                  <a:srgbClr val="9EB7D7"/>
                </a:solidFill>
                <a:latin typeface="Aptos"/>
                <a:ea typeface="Aptos"/>
                <a:cs typeface="Aptos"/>
              </a:defRPr>
            </a:lvl1pPr>
            <a:lvl2pPr>
              <a:defRPr sz="1500">
                <a:solidFill>
                  <a:srgbClr val="9EB7D7"/>
                </a:solidFill>
                <a:latin typeface="Aptos"/>
                <a:ea typeface="Aptos"/>
                <a:cs typeface="Aptos"/>
              </a:defRPr>
            </a:lvl2pPr>
            <a:lvl3pPr>
              <a:defRPr sz="1500">
                <a:solidFill>
                  <a:srgbClr val="9EB7D7"/>
                </a:solidFill>
                <a:latin typeface="Aptos"/>
                <a:ea typeface="Aptos"/>
                <a:cs typeface="Aptos"/>
              </a:defRPr>
            </a:lvl3pPr>
            <a:lvl4pPr>
              <a:defRPr sz="1500">
                <a:solidFill>
                  <a:srgbClr val="9EB7D7"/>
                </a:solidFill>
                <a:latin typeface="Aptos"/>
                <a:ea typeface="Aptos"/>
                <a:cs typeface="Aptos"/>
              </a:defRPr>
            </a:lvl4pPr>
            <a:lvl5pPr>
              <a:defRPr sz="1500">
                <a:solidFill>
                  <a:srgbClr val="9EB7D7"/>
                </a:solidFill>
                <a:latin typeface="Aptos"/>
                <a:ea typeface="Aptos"/>
                <a:cs typeface="Aptos"/>
              </a:defRPr>
            </a:lvl5pPr>
            <a:lvl6pPr>
              <a:defRPr sz="1500">
                <a:solidFill>
                  <a:srgbClr val="9EB7D7"/>
                </a:solidFill>
                <a:latin typeface="Aptos"/>
                <a:ea typeface="Aptos"/>
                <a:cs typeface="Aptos"/>
              </a:defRPr>
            </a:lvl6pPr>
            <a:lvl7pPr>
              <a:defRPr sz="1500">
                <a:solidFill>
                  <a:srgbClr val="9EB7D7"/>
                </a:solidFill>
                <a:latin typeface="Aptos"/>
                <a:ea typeface="Aptos"/>
                <a:cs typeface="Aptos"/>
              </a:defRPr>
            </a:lvl7pPr>
            <a:lvl8pPr>
              <a:defRPr sz="1500">
                <a:solidFill>
                  <a:srgbClr val="9EB7D7"/>
                </a:solidFill>
                <a:latin typeface="Aptos"/>
                <a:ea typeface="Aptos"/>
                <a:cs typeface="Aptos"/>
              </a:defRPr>
            </a:lvl8pPr>
            <a:lvl9pPr>
              <a:defRPr sz="1500">
                <a:solidFill>
                  <a:srgbClr val="9EB7D7"/>
                </a:solidFill>
                <a:latin typeface="Aptos"/>
                <a:ea typeface="Aptos"/>
                <a:cs typeface="Aptos"/>
              </a:defRPr>
            </a:lvl9pPr>
          </a:lstStyle>
          <a:p xmlns:a="http://schemas.openxmlformats.org/drawingml/2006/main">
            <a:pPr algn="l">
              <a:spcAft>
                <a:spcPts val="400"/>
              </a:spcAft>
              <a:buNone/>
              <a:defRPr sz="1500">
                <a:solidFill>
                  <a:srgbClr val="9EB7D7"/>
                </a:solidFill>
                <a:latin typeface="Aptos"/>
                <a:ea typeface="Aptos"/>
                <a:cs typeface="Aptos"/>
              </a:defRPr>
            </a:pPr>
            <a:r>
              <a:rPr sz="1500" b="0" i="0">
                <a:solidFill>
                  <a:srgbClr val="9EB7D7"/>
                </a:solidFill>
                <a:latin typeface="Aptos"/>
                <a:ea typeface="Aptos"/>
                <a:cs typeface="Aptos"/>
              </a:rPr>
              <a:t>NUMS: Lubna Khalid, Javeria Naseer, Arooba Jamil</a:t>
            </a:r>
          </a:p>
          <a:p xmlns:a="http://schemas.openxmlformats.org/drawingml/2006/main">
            <a:pPr algn="l">
              <a:spcAft>
                <a:spcPts val="400"/>
              </a:spcAft>
              <a:buNone/>
              <a:defRPr sz="1500">
                <a:solidFill>
                  <a:srgbClr val="9EB7D7"/>
                </a:solidFill>
                <a:latin typeface="Aptos"/>
                <a:ea typeface="Aptos"/>
                <a:cs typeface="Aptos"/>
              </a:defRPr>
            </a:pPr>
            <a:r>
              <a:rPr sz="1500" b="0" i="0">
                <a:solidFill>
                  <a:srgbClr val="9EB7D7"/>
                </a:solidFill>
                <a:latin typeface="Aptos"/>
                <a:ea typeface="Aptos"/>
                <a:cs typeface="Aptos"/>
              </a:rPr>
              <a:t>NUST: Maheen Athar</a:t>
            </a:r>
          </a:p>
        </p:txBody>
      </p:sp>
      <p:sp>
        <p:nvSpPr>
          <p:cNvPr id="12" name="TextBox 11">
            <a:extLst xmlns:a="http://schemas.openxmlformats.org/drawingml/2006/main">
              <a:ext uri="{FF2B5EF4-FFF2-40B4-BE49-F238E27FC236}">
                <a16:creationId xmlns:a16="http://schemas.microsoft.com/office/drawing/2014/main" id="{EC0CB1AB-7CFC-41E7-9D3B-7F386F6B58A8}"/>
              </a:ext>
            </a:extLst>
          </p:cNvPr>
          <p:cNvSpPr>
            <a:spLocks xmlns:a="http://schemas.openxmlformats.org/drawingml/2006/main" noGrp="1"/>
          </p:cNvSpPr>
          <p:nvPr/>
        </p:nvSpPr>
        <p:spPr>
          <a:xfrm xmlns:a="http://schemas.openxmlformats.org/drawingml/2006/main">
            <a:off x="11155680" y="6217920"/>
            <a:ext cx="45720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01</a:t>
            </a:r>
          </a:p>
        </p:txBody>
      </p:sp>
    </p:spTree>
    <p:extLst>
      <p:ext uri="{BB962C8B-B14F-4D97-AF65-F5344CB8AC3E}">
        <p14:creationId xmlns:p14="http://schemas.microsoft.com/office/powerpoint/2010/main" val="753623434"/>
      </p:ext>
    </p:extLst>
  </p:cSld>
</p:sld>
</file>

<file path=ppt/slides/slide2.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432DD9-8026-4498-93B8-87164599BAC2}"/>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8FD4C68-A487-4119-9CB4-5CBFB87AE86F}"/>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01  /  BACKGROUND</a:t>
            </a:r>
          </a:p>
        </p:txBody>
      </p:sp>
      <p:sp>
        <p:nvSpPr>
          <p:cNvPr id="4" name="TextBox 3">
            <a:extLst xmlns:a="http://schemas.openxmlformats.org/drawingml/2006/main">
              <a:ext uri="{FF2B5EF4-FFF2-40B4-BE49-F238E27FC236}">
                <a16:creationId xmlns:a16="http://schemas.microsoft.com/office/drawing/2014/main" id="{6C5AAE1A-950E-44BE-B07C-327234D3BB88}"/>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Social Engineering at the Point of Decision</a:t>
            </a:r>
          </a:p>
        </p:txBody>
      </p:sp>
      <p:sp>
        <p:nvSpPr>
          <p:cNvPr id="5" name="Rectangle 4">
            <a:extLst xmlns:a="http://schemas.openxmlformats.org/drawingml/2006/main">
              <a:ext uri="{FF2B5EF4-FFF2-40B4-BE49-F238E27FC236}">
                <a16:creationId xmlns:a16="http://schemas.microsoft.com/office/drawing/2014/main" id="{09D9C68E-78AC-4B84-A3DF-61A329B9C36D}"/>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BD67254-74E4-469E-96A0-F324591FCC18}"/>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02</a:t>
            </a:r>
          </a:p>
        </p:txBody>
      </p:sp>
      <p:sp>
        <p:nvSpPr>
          <p:cNvPr id="7" name="TextBox 6">
            <a:extLst xmlns:a="http://schemas.openxmlformats.org/drawingml/2006/main">
              <a:ext uri="{FF2B5EF4-FFF2-40B4-BE49-F238E27FC236}">
                <a16:creationId xmlns:a16="http://schemas.microsoft.com/office/drawing/2014/main" id="{C9D953BF-D66D-4F4B-864B-29921B149519}"/>
              </a:ext>
            </a:extLst>
          </p:cNvPr>
          <p:cNvSpPr>
            <a:spLocks xmlns:a="http://schemas.openxmlformats.org/drawingml/2006/main" noGrp="1"/>
          </p:cNvSpPr>
          <p:nvPr/>
        </p:nvSpPr>
        <p:spPr>
          <a:xfrm xmlns:a="http://schemas.openxmlformats.org/drawingml/2006/main">
            <a:off x="658368" y="1737360"/>
            <a:ext cx="10607040"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400" b="1" i="0">
                <a:solidFill>
                  <a:srgbClr val="DEEEFF"/>
                </a:solidFill>
                <a:latin typeface="Aptos"/>
                <a:ea typeface="Aptos"/>
                <a:cs typeface="Aptos"/>
              </a:rPr>
              <a:t>Pressure and claimed authority can influence a user’s response.</a:t>
            </a:r>
          </a:p>
        </p:txBody>
      </p:sp>
      <p:sp>
        <p:nvSpPr>
          <p:cNvPr id="8" name="Rounded Rectangle 7">
            <a:extLst xmlns:a="http://schemas.openxmlformats.org/drawingml/2006/main">
              <a:ext uri="{FF2B5EF4-FFF2-40B4-BE49-F238E27FC236}">
                <a16:creationId xmlns:a16="http://schemas.microsoft.com/office/drawing/2014/main" id="{063A1F86-03CE-4228-99D3-F2ECBDE94F0E}"/>
              </a:ext>
            </a:extLst>
          </p:cNvPr>
          <p:cNvSpPr>
            <a:spLocks xmlns:a="http://schemas.openxmlformats.org/drawingml/2006/main" noGrp="1"/>
          </p:cNvSpPr>
          <p:nvPr/>
        </p:nvSpPr>
        <p:spPr>
          <a:xfrm xmlns:a="http://schemas.openxmlformats.org/drawingml/2006/main">
            <a:off x="685800" y="2743200"/>
            <a:ext cx="3429000" cy="205740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C1F64417-597D-47B6-AEE7-240CB2C8BF59}"/>
              </a:ext>
            </a:extLst>
          </p:cNvPr>
          <p:cNvSpPr>
            <a:spLocks xmlns:a="http://schemas.openxmlformats.org/drawingml/2006/main" noGrp="1"/>
          </p:cNvSpPr>
          <p:nvPr/>
        </p:nvSpPr>
        <p:spPr>
          <a:xfrm xmlns:a="http://schemas.openxmlformats.org/drawingml/2006/main">
            <a:off x="685800" y="2880360"/>
            <a:ext cx="50292" cy="1783080"/>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071163E-0F13-4797-9370-940C63E2E067}"/>
              </a:ext>
            </a:extLst>
          </p:cNvPr>
          <p:cNvSpPr>
            <a:spLocks xmlns:a="http://schemas.openxmlformats.org/drawingml/2006/main" noGrp="1"/>
          </p:cNvSpPr>
          <p:nvPr/>
        </p:nvSpPr>
        <p:spPr>
          <a:xfrm xmlns:a="http://schemas.openxmlformats.org/drawingml/2006/main">
            <a:off x="886968" y="2907792"/>
            <a:ext cx="3044952"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Technical observations</a:t>
            </a:r>
          </a:p>
        </p:txBody>
      </p:sp>
      <p:sp>
        <p:nvSpPr>
          <p:cNvPr id="11" name="TextBox 10">
            <a:extLst xmlns:a="http://schemas.openxmlformats.org/drawingml/2006/main">
              <a:ext uri="{FF2B5EF4-FFF2-40B4-BE49-F238E27FC236}">
                <a16:creationId xmlns:a16="http://schemas.microsoft.com/office/drawing/2014/main" id="{1065CB07-F3C7-4212-921E-61F15CF90815}"/>
              </a:ext>
            </a:extLst>
          </p:cNvPr>
          <p:cNvSpPr>
            <a:spLocks xmlns:a="http://schemas.openxmlformats.org/drawingml/2006/main" noGrp="1"/>
          </p:cNvSpPr>
          <p:nvPr/>
        </p:nvSpPr>
        <p:spPr>
          <a:xfrm xmlns:a="http://schemas.openxmlformats.org/drawingml/2006/main">
            <a:off x="868680" y="3401568"/>
            <a:ext cx="3081528" cy="8270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300">
                <a:solidFill>
                  <a:srgbClr val="DEEEFF"/>
                </a:solidFill>
                <a:latin typeface="Aptos"/>
                <a:ea typeface="Aptos"/>
                <a:cs typeface="Aptos"/>
              </a:defRPr>
            </a:pPr>
            <a:r>
              <a:t>Link destination</a:t>
            </a:r>
          </a:p>
          <a:p xmlns:a="http://schemas.openxmlformats.org/drawingml/2006/main">
            <a:pPr>
              <a:spcAft>
                <a:spcPts val="700"/>
              </a:spcAft>
              <a:buNone/>
              <a:defRPr sz="1300">
                <a:solidFill>
                  <a:srgbClr val="DEEEFF"/>
                </a:solidFill>
                <a:latin typeface="Aptos"/>
                <a:ea typeface="Aptos"/>
                <a:cs typeface="Aptos"/>
              </a:defRPr>
            </a:pPr>
            <a:r>
              <a:t>Stated sender domain</a:t>
            </a:r>
          </a:p>
          <a:p xmlns:a="http://schemas.openxmlformats.org/drawingml/2006/main">
            <a:pPr>
              <a:spcAft>
                <a:spcPts val="700"/>
              </a:spcAft>
              <a:buNone/>
              <a:defRPr sz="1300">
                <a:solidFill>
                  <a:srgbClr val="DEEEFF"/>
                </a:solidFill>
                <a:latin typeface="Aptos"/>
                <a:ea typeface="Aptos"/>
                <a:cs typeface="Aptos"/>
              </a:defRPr>
            </a:pPr>
            <a:r>
              <a:t>Requests for credentials</a:t>
            </a:r>
          </a:p>
        </p:txBody>
      </p:sp>
      <p:sp>
        <p:nvSpPr>
          <p:cNvPr id="12" name="Rounded Rectangle 11">
            <a:extLst xmlns:a="http://schemas.openxmlformats.org/drawingml/2006/main">
              <a:ext uri="{FF2B5EF4-FFF2-40B4-BE49-F238E27FC236}">
                <a16:creationId xmlns:a16="http://schemas.microsoft.com/office/drawing/2014/main" id="{65EEB983-7C45-480B-8403-9AAE8806BB87}"/>
              </a:ext>
            </a:extLst>
          </p:cNvPr>
          <p:cNvSpPr>
            <a:spLocks xmlns:a="http://schemas.openxmlformats.org/drawingml/2006/main" noGrp="1"/>
          </p:cNvSpPr>
          <p:nvPr/>
        </p:nvSpPr>
        <p:spPr>
          <a:xfrm xmlns:a="http://schemas.openxmlformats.org/drawingml/2006/main">
            <a:off x="4370832" y="2743200"/>
            <a:ext cx="3429000" cy="205740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72847343-9625-4B6A-B49B-20573F0689FB}"/>
              </a:ext>
            </a:extLst>
          </p:cNvPr>
          <p:cNvSpPr>
            <a:spLocks xmlns:a="http://schemas.openxmlformats.org/drawingml/2006/main" noGrp="1"/>
          </p:cNvSpPr>
          <p:nvPr/>
        </p:nvSpPr>
        <p:spPr>
          <a:xfrm xmlns:a="http://schemas.openxmlformats.org/drawingml/2006/main">
            <a:off x="4370832" y="2880360"/>
            <a:ext cx="50292" cy="178308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C98320-8AB7-41DC-9142-C65D7528BE1A}"/>
              </a:ext>
            </a:extLst>
          </p:cNvPr>
          <p:cNvSpPr>
            <a:spLocks xmlns:a="http://schemas.openxmlformats.org/drawingml/2006/main" noGrp="1"/>
          </p:cNvSpPr>
          <p:nvPr/>
        </p:nvSpPr>
        <p:spPr>
          <a:xfrm xmlns:a="http://schemas.openxmlformats.org/drawingml/2006/main">
            <a:off x="4572000" y="2907792"/>
            <a:ext cx="3044952"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Persuasion cues</a:t>
            </a:r>
          </a:p>
        </p:txBody>
      </p:sp>
      <p:sp>
        <p:nvSpPr>
          <p:cNvPr id="15" name="TextBox 14">
            <a:extLst xmlns:a="http://schemas.openxmlformats.org/drawingml/2006/main">
              <a:ext uri="{FF2B5EF4-FFF2-40B4-BE49-F238E27FC236}">
                <a16:creationId xmlns:a16="http://schemas.microsoft.com/office/drawing/2014/main" id="{CB0026E2-830A-4A9E-848F-682F8D0D841F}"/>
              </a:ext>
            </a:extLst>
          </p:cNvPr>
          <p:cNvSpPr>
            <a:spLocks xmlns:a="http://schemas.openxmlformats.org/drawingml/2006/main" noGrp="1"/>
          </p:cNvSpPr>
          <p:nvPr/>
        </p:nvSpPr>
        <p:spPr>
          <a:xfrm xmlns:a="http://schemas.openxmlformats.org/drawingml/2006/main">
            <a:off x="4553712" y="3401568"/>
            <a:ext cx="3081528" cy="8270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300">
                <a:solidFill>
                  <a:srgbClr val="DEEEFF"/>
                </a:solidFill>
                <a:latin typeface="Aptos"/>
                <a:ea typeface="Aptos"/>
                <a:cs typeface="Aptos"/>
              </a:defRPr>
            </a:pPr>
            <a:r>
              <a:t>Time pressure</a:t>
            </a:r>
          </a:p>
          <a:p xmlns:a="http://schemas.openxmlformats.org/drawingml/2006/main">
            <a:pPr>
              <a:spcAft>
                <a:spcPts val="700"/>
              </a:spcAft>
              <a:buNone/>
              <a:defRPr sz="1300">
                <a:solidFill>
                  <a:srgbClr val="DEEEFF"/>
                </a:solidFill>
                <a:latin typeface="Aptos"/>
                <a:ea typeface="Aptos"/>
                <a:cs typeface="Aptos"/>
              </a:defRPr>
            </a:pPr>
            <a:r>
              <a:t>Threat of account loss</a:t>
            </a:r>
          </a:p>
          <a:p xmlns:a="http://schemas.openxmlformats.org/drawingml/2006/main">
            <a:pPr>
              <a:spcAft>
                <a:spcPts val="700"/>
              </a:spcAft>
              <a:buNone/>
              <a:defRPr sz="1300">
                <a:solidFill>
                  <a:srgbClr val="DEEEFF"/>
                </a:solidFill>
                <a:latin typeface="Aptos"/>
                <a:ea typeface="Aptos"/>
                <a:cs typeface="Aptos"/>
              </a:defRPr>
            </a:pPr>
            <a:r>
              <a:t>Claims of authority</a:t>
            </a:r>
          </a:p>
        </p:txBody>
      </p:sp>
      <p:sp>
        <p:nvSpPr>
          <p:cNvPr id="16" name="Rounded Rectangle 15">
            <a:extLst xmlns:a="http://schemas.openxmlformats.org/drawingml/2006/main">
              <a:ext uri="{FF2B5EF4-FFF2-40B4-BE49-F238E27FC236}">
                <a16:creationId xmlns:a16="http://schemas.microsoft.com/office/drawing/2014/main" id="{996A0B6D-8542-413C-9B47-6858340A218A}"/>
              </a:ext>
            </a:extLst>
          </p:cNvPr>
          <p:cNvSpPr>
            <a:spLocks xmlns:a="http://schemas.openxmlformats.org/drawingml/2006/main" noGrp="1"/>
          </p:cNvSpPr>
          <p:nvPr/>
        </p:nvSpPr>
        <p:spPr>
          <a:xfrm xmlns:a="http://schemas.openxmlformats.org/drawingml/2006/main">
            <a:off x="8065008" y="2743200"/>
            <a:ext cx="3429000" cy="205740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410700FF-27C8-4CB9-8CC0-BAA0F09151A8}"/>
              </a:ext>
            </a:extLst>
          </p:cNvPr>
          <p:cNvSpPr>
            <a:spLocks xmlns:a="http://schemas.openxmlformats.org/drawingml/2006/main" noGrp="1"/>
          </p:cNvSpPr>
          <p:nvPr/>
        </p:nvSpPr>
        <p:spPr>
          <a:xfrm xmlns:a="http://schemas.openxmlformats.org/drawingml/2006/main">
            <a:off x="8065008" y="2880360"/>
            <a:ext cx="50292" cy="1783080"/>
          </a:xfrm>
          <a:prstGeom xmlns:a="http://schemas.openxmlformats.org/drawingml/2006/main" prst="rect">
            <a:avLst/>
          </a:prstGeom>
          <a:solidFill xmlns:a="http://schemas.openxmlformats.org/drawingml/2006/main">
            <a:srgbClr val="FF59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E18FA75-1C1C-42BB-AC88-F471CB2DF63D}"/>
              </a:ext>
            </a:extLst>
          </p:cNvPr>
          <p:cNvSpPr>
            <a:spLocks xmlns:a="http://schemas.openxmlformats.org/drawingml/2006/main" noGrp="1"/>
          </p:cNvSpPr>
          <p:nvPr/>
        </p:nvSpPr>
        <p:spPr>
          <a:xfrm xmlns:a="http://schemas.openxmlformats.org/drawingml/2006/main">
            <a:off x="8266176" y="2907792"/>
            <a:ext cx="3044952"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Decision support</a:t>
            </a:r>
          </a:p>
        </p:txBody>
      </p:sp>
      <p:sp>
        <p:nvSpPr>
          <p:cNvPr id="19" name="TextBox 18">
            <a:extLst xmlns:a="http://schemas.openxmlformats.org/drawingml/2006/main">
              <a:ext uri="{FF2B5EF4-FFF2-40B4-BE49-F238E27FC236}">
                <a16:creationId xmlns:a16="http://schemas.microsoft.com/office/drawing/2014/main" id="{E8EC609B-7737-4598-9579-36D14CC9EA2F}"/>
              </a:ext>
            </a:extLst>
          </p:cNvPr>
          <p:cNvSpPr>
            <a:spLocks xmlns:a="http://schemas.openxmlformats.org/drawingml/2006/main" noGrp="1"/>
          </p:cNvSpPr>
          <p:nvPr/>
        </p:nvSpPr>
        <p:spPr>
          <a:xfrm xmlns:a="http://schemas.openxmlformats.org/drawingml/2006/main">
            <a:off x="8247888" y="3401568"/>
            <a:ext cx="3081528" cy="8270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300">
                <a:solidFill>
                  <a:srgbClr val="DEEEFF"/>
                </a:solidFill>
                <a:latin typeface="Aptos"/>
                <a:ea typeface="Aptos"/>
                <a:cs typeface="Aptos"/>
              </a:defRPr>
            </a:pPr>
            <a:r>
              <a:t>Explain visible cues</a:t>
            </a:r>
          </a:p>
          <a:p xmlns:a="http://schemas.openxmlformats.org/drawingml/2006/main">
            <a:pPr>
              <a:spcAft>
                <a:spcPts val="700"/>
              </a:spcAft>
              <a:buNone/>
              <a:defRPr sz="1300">
                <a:solidFill>
                  <a:srgbClr val="DEEEFF"/>
                </a:solidFill>
                <a:latin typeface="Aptos"/>
                <a:ea typeface="Aptos"/>
                <a:cs typeface="Aptos"/>
              </a:defRPr>
            </a:pPr>
            <a:r>
              <a:t>Preserve the original text</a:t>
            </a:r>
          </a:p>
          <a:p xmlns:a="http://schemas.openxmlformats.org/drawingml/2006/main">
            <a:pPr>
              <a:spcAft>
                <a:spcPts val="700"/>
              </a:spcAft>
              <a:buNone/>
              <a:defRPr sz="1300">
                <a:solidFill>
                  <a:srgbClr val="DEEEFF"/>
                </a:solidFill>
                <a:latin typeface="Aptos"/>
                <a:ea typeface="Aptos"/>
                <a:cs typeface="Aptos"/>
              </a:defRPr>
            </a:pPr>
            <a:r>
              <a:t>Prompt independent verification</a:t>
            </a:r>
          </a:p>
        </p:txBody>
      </p:sp>
      <p:sp>
        <p:nvSpPr>
          <p:cNvPr id="20" name="TextBox 19">
            <a:extLst xmlns:a="http://schemas.openxmlformats.org/drawingml/2006/main">
              <a:ext uri="{FF2B5EF4-FFF2-40B4-BE49-F238E27FC236}">
                <a16:creationId xmlns:a16="http://schemas.microsoft.com/office/drawing/2014/main" id="{4EEEF911-FCEC-4FB1-BA8B-F39D06C4A9F2}"/>
              </a:ext>
            </a:extLst>
          </p:cNvPr>
          <p:cNvSpPr>
            <a:spLocks xmlns:a="http://schemas.openxmlformats.org/drawingml/2006/main" noGrp="1"/>
          </p:cNvSpPr>
          <p:nvPr/>
        </p:nvSpPr>
        <p:spPr>
          <a:xfrm xmlns:a="http://schemas.openxmlformats.org/drawingml/2006/main">
            <a:off x="749808" y="5532120"/>
            <a:ext cx="10789920"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700" b="1" i="0">
                <a:solidFill>
                  <a:srgbClr val="2ADAF5"/>
                </a:solidFill>
                <a:latin typeface="Aptos"/>
                <a:ea typeface="Aptos"/>
                <a:cs typeface="Aptos"/>
              </a:rPr>
              <a:t>A cue can raise a question. It cannot establish malicious intent.</a:t>
            </a:r>
          </a:p>
        </p:txBody>
      </p:sp>
    </p:spTree>
    <p:extLst>
      <p:ext uri="{BB962C8B-B14F-4D97-AF65-F5344CB8AC3E}">
        <p14:creationId xmlns:p14="http://schemas.microsoft.com/office/powerpoint/2010/main" val="1540559811"/>
      </p:ext>
    </p:extLst>
  </p:cSld>
</p:sld>
</file>

<file path=ppt/slides/slide3.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B5BBE3-A4D5-4082-B55E-151805FCC2F1}"/>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A1FF62-BC9E-475B-A560-B44FA00D1914}"/>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02  /  RESEARCH FRAMING</a:t>
            </a:r>
          </a:p>
        </p:txBody>
      </p:sp>
      <p:sp>
        <p:nvSpPr>
          <p:cNvPr id="4" name="TextBox 3">
            <a:extLst xmlns:a="http://schemas.openxmlformats.org/drawingml/2006/main">
              <a:ext uri="{FF2B5EF4-FFF2-40B4-BE49-F238E27FC236}">
                <a16:creationId xmlns:a16="http://schemas.microsoft.com/office/drawing/2014/main" id="{CB1DF071-A3DB-4ED6-B7BF-A9C84015DDBA}"/>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Problem Statement and Research Question</a:t>
            </a:r>
          </a:p>
        </p:txBody>
      </p:sp>
      <p:sp>
        <p:nvSpPr>
          <p:cNvPr id="5" name="Rectangle 4">
            <a:extLst xmlns:a="http://schemas.openxmlformats.org/drawingml/2006/main">
              <a:ext uri="{FF2B5EF4-FFF2-40B4-BE49-F238E27FC236}">
                <a16:creationId xmlns:a16="http://schemas.microsoft.com/office/drawing/2014/main" id="{43957FC4-404C-47AC-8831-4F1DA80BB575}"/>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EE3EB09-B43F-4B5F-96B5-2116A535DA82}"/>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03</a:t>
            </a:r>
          </a:p>
        </p:txBody>
      </p:sp>
      <p:sp>
        <p:nvSpPr>
          <p:cNvPr id="7" name="TextBox 6">
            <a:extLst xmlns:a="http://schemas.openxmlformats.org/drawingml/2006/main">
              <a:ext uri="{FF2B5EF4-FFF2-40B4-BE49-F238E27FC236}">
                <a16:creationId xmlns:a16="http://schemas.microsoft.com/office/drawing/2014/main" id="{43059F32-67A0-42DE-B49F-C4BD97F51AD5}"/>
              </a:ext>
            </a:extLst>
          </p:cNvPr>
          <p:cNvSpPr>
            <a:spLocks xmlns:a="http://schemas.openxmlformats.org/drawingml/2006/main" noGrp="1"/>
          </p:cNvSpPr>
          <p:nvPr/>
        </p:nvSpPr>
        <p:spPr>
          <a:xfrm xmlns:a="http://schemas.openxmlformats.org/drawingml/2006/main">
            <a:off x="713232" y="1783080"/>
            <a:ext cx="10698480" cy="3901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200" b="1" i="0">
                <a:solidFill>
                  <a:srgbClr val="DEEEFF"/>
                </a:solidFill>
                <a:latin typeface="Aptos"/>
                <a:ea typeface="Aptos"/>
                <a:cs typeface="Aptos"/>
              </a:rPr>
              <a:t>The proposed system explains cues before a user responds.</a:t>
            </a:r>
          </a:p>
        </p:txBody>
      </p:sp>
      <p:sp>
        <p:nvSpPr>
          <p:cNvPr id="8" name="Rounded Rectangle 7">
            <a:extLst xmlns:a="http://schemas.openxmlformats.org/drawingml/2006/main">
              <a:ext uri="{FF2B5EF4-FFF2-40B4-BE49-F238E27FC236}">
                <a16:creationId xmlns:a16="http://schemas.microsoft.com/office/drawing/2014/main" id="{32FF063A-AB26-43D7-B85B-CA3ECD50E0FF}"/>
              </a:ext>
            </a:extLst>
          </p:cNvPr>
          <p:cNvSpPr>
            <a:spLocks xmlns:a="http://schemas.openxmlformats.org/drawingml/2006/main" noGrp="1"/>
          </p:cNvSpPr>
          <p:nvPr/>
        </p:nvSpPr>
        <p:spPr>
          <a:xfrm xmlns:a="http://schemas.openxmlformats.org/drawingml/2006/main">
            <a:off x="777240" y="2542032"/>
            <a:ext cx="1572768" cy="384048"/>
          </a:xfrm>
          <a:prstGeom xmlns:a="http://schemas.openxmlformats.org/drawingml/2006/main" prst="round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C639A19-A623-4775-BB73-17A869C64B67}"/>
              </a:ext>
            </a:extLst>
          </p:cNvPr>
          <p:cNvSpPr>
            <a:spLocks xmlns:a="http://schemas.openxmlformats.org/drawingml/2006/main" noGrp="1"/>
          </p:cNvSpPr>
          <p:nvPr/>
        </p:nvSpPr>
        <p:spPr>
          <a:xfrm xmlns:a="http://schemas.openxmlformats.org/drawingml/2006/main">
            <a:off x="832103" y="2578608"/>
            <a:ext cx="1463040"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MESSAGE</a:t>
            </a:r>
          </a:p>
        </p:txBody>
      </p:sp>
      <p:sp>
        <p:nvSpPr>
          <p:cNvPr id="10" name="Rounded Rectangle 9">
            <a:extLst xmlns:a="http://schemas.openxmlformats.org/drawingml/2006/main">
              <a:ext uri="{FF2B5EF4-FFF2-40B4-BE49-F238E27FC236}">
                <a16:creationId xmlns:a16="http://schemas.microsoft.com/office/drawing/2014/main" id="{9B1BD471-B04A-44A5-8272-A9CAA9EEA6A5}"/>
              </a:ext>
            </a:extLst>
          </p:cNvPr>
          <p:cNvSpPr>
            <a:spLocks xmlns:a="http://schemas.openxmlformats.org/drawingml/2006/main" noGrp="1"/>
          </p:cNvSpPr>
          <p:nvPr/>
        </p:nvSpPr>
        <p:spPr>
          <a:xfrm xmlns:a="http://schemas.openxmlformats.org/drawingml/2006/main">
            <a:off x="2697480" y="2542032"/>
            <a:ext cx="1572768" cy="384048"/>
          </a:xfrm>
          <a:prstGeom xmlns:a="http://schemas.openxmlformats.org/drawingml/2006/main" prst="round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2F80A6F-385B-422E-B480-2AB9D0DEEB0A}"/>
              </a:ext>
            </a:extLst>
          </p:cNvPr>
          <p:cNvSpPr>
            <a:spLocks xmlns:a="http://schemas.openxmlformats.org/drawingml/2006/main" noGrp="1"/>
          </p:cNvSpPr>
          <p:nvPr/>
        </p:nvSpPr>
        <p:spPr>
          <a:xfrm xmlns:a="http://schemas.openxmlformats.org/drawingml/2006/main">
            <a:off x="2752344" y="2578608"/>
            <a:ext cx="1463040"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CONTEXT</a:t>
            </a:r>
          </a:p>
        </p:txBody>
      </p:sp>
      <p:sp>
        <p:nvSpPr>
          <p:cNvPr id="12" name="Rounded Rectangle 11">
            <a:extLst xmlns:a="http://schemas.openxmlformats.org/drawingml/2006/main">
              <a:ext uri="{FF2B5EF4-FFF2-40B4-BE49-F238E27FC236}">
                <a16:creationId xmlns:a16="http://schemas.microsoft.com/office/drawing/2014/main" id="{6162CFB1-7B59-4C95-88C9-028FC6C17FBD}"/>
              </a:ext>
            </a:extLst>
          </p:cNvPr>
          <p:cNvSpPr>
            <a:spLocks xmlns:a="http://schemas.openxmlformats.org/drawingml/2006/main" noGrp="1"/>
          </p:cNvSpPr>
          <p:nvPr/>
        </p:nvSpPr>
        <p:spPr>
          <a:xfrm xmlns:a="http://schemas.openxmlformats.org/drawingml/2006/main">
            <a:off x="4617720" y="2542032"/>
            <a:ext cx="1572768" cy="384048"/>
          </a:xfrm>
          <a:prstGeom xmlns:a="http://schemas.openxmlformats.org/drawingml/2006/main" prst="round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C9DF681-81C3-462D-BCD7-4C55B3237663}"/>
              </a:ext>
            </a:extLst>
          </p:cNvPr>
          <p:cNvSpPr>
            <a:spLocks xmlns:a="http://schemas.openxmlformats.org/drawingml/2006/main" noGrp="1"/>
          </p:cNvSpPr>
          <p:nvPr/>
        </p:nvSpPr>
        <p:spPr>
          <a:xfrm xmlns:a="http://schemas.openxmlformats.org/drawingml/2006/main">
            <a:off x="4672583" y="2578608"/>
            <a:ext cx="1463040"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EXPLANATION</a:t>
            </a:r>
          </a:p>
        </p:txBody>
      </p:sp>
      <p:sp>
        <p:nvSpPr>
          <p:cNvPr id="14" name="Rounded Rectangle 13">
            <a:extLst xmlns:a="http://schemas.openxmlformats.org/drawingml/2006/main">
              <a:ext uri="{FF2B5EF4-FFF2-40B4-BE49-F238E27FC236}">
                <a16:creationId xmlns:a16="http://schemas.microsoft.com/office/drawing/2014/main" id="{1F263822-E08D-4960-850C-8F8CC82DE440}"/>
              </a:ext>
            </a:extLst>
          </p:cNvPr>
          <p:cNvSpPr>
            <a:spLocks xmlns:a="http://schemas.openxmlformats.org/drawingml/2006/main" noGrp="1"/>
          </p:cNvSpPr>
          <p:nvPr/>
        </p:nvSpPr>
        <p:spPr>
          <a:xfrm xmlns:a="http://schemas.openxmlformats.org/drawingml/2006/main">
            <a:off x="6537960" y="2542032"/>
            <a:ext cx="1572768" cy="384048"/>
          </a:xfrm>
          <a:prstGeom xmlns:a="http://schemas.openxmlformats.org/drawingml/2006/main" prst="round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8D25CA2-45CE-44C9-BDE2-B043C8D4367C}"/>
              </a:ext>
            </a:extLst>
          </p:cNvPr>
          <p:cNvSpPr>
            <a:spLocks xmlns:a="http://schemas.openxmlformats.org/drawingml/2006/main" noGrp="1"/>
          </p:cNvSpPr>
          <p:nvPr/>
        </p:nvSpPr>
        <p:spPr>
          <a:xfrm xmlns:a="http://schemas.openxmlformats.org/drawingml/2006/main">
            <a:off x="6592824" y="2578608"/>
            <a:ext cx="1463040"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VERIFICATION</a:t>
            </a:r>
          </a:p>
        </p:txBody>
      </p:sp>
      <p:sp>
        <p:nvSpPr>
          <p:cNvPr id="16" name="Rounded Rectangle 15">
            <a:extLst xmlns:a="http://schemas.openxmlformats.org/drawingml/2006/main">
              <a:ext uri="{FF2B5EF4-FFF2-40B4-BE49-F238E27FC236}">
                <a16:creationId xmlns:a16="http://schemas.microsoft.com/office/drawing/2014/main" id="{99EF87CF-2F87-4C17-92FB-B4D1E02EDDE4}"/>
              </a:ext>
            </a:extLst>
          </p:cNvPr>
          <p:cNvSpPr>
            <a:spLocks xmlns:a="http://schemas.openxmlformats.org/drawingml/2006/main" noGrp="1"/>
          </p:cNvSpPr>
          <p:nvPr/>
        </p:nvSpPr>
        <p:spPr>
          <a:xfrm xmlns:a="http://schemas.openxmlformats.org/drawingml/2006/main">
            <a:off x="749808" y="3337560"/>
            <a:ext cx="4983480" cy="141732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68F22547-A3E4-4256-BF9C-365F19F1BC9B}"/>
              </a:ext>
            </a:extLst>
          </p:cNvPr>
          <p:cNvSpPr>
            <a:spLocks xmlns:a="http://schemas.openxmlformats.org/drawingml/2006/main" noGrp="1"/>
          </p:cNvSpPr>
          <p:nvPr/>
        </p:nvSpPr>
        <p:spPr>
          <a:xfrm xmlns:a="http://schemas.openxmlformats.org/drawingml/2006/main">
            <a:off x="749808" y="3474720"/>
            <a:ext cx="50292" cy="1143000"/>
          </a:xfrm>
          <a:prstGeom xmlns:a="http://schemas.openxmlformats.org/drawingml/2006/main" prst="rect">
            <a:avLst/>
          </a:prstGeom>
          <a:solidFill xmlns:a="http://schemas.openxmlformats.org/drawingml/2006/main">
            <a:srgbClr val="FF59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BB0891C7-F9AC-492C-B376-3DD78B2EC7AF}"/>
              </a:ext>
            </a:extLst>
          </p:cNvPr>
          <p:cNvSpPr>
            <a:spLocks xmlns:a="http://schemas.openxmlformats.org/drawingml/2006/main" noGrp="1"/>
          </p:cNvSpPr>
          <p:nvPr/>
        </p:nvSpPr>
        <p:spPr>
          <a:xfrm xmlns:a="http://schemas.openxmlformats.org/drawingml/2006/main">
            <a:off x="950976" y="3502152"/>
            <a:ext cx="459943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Candidate research gap</a:t>
            </a:r>
          </a:p>
        </p:txBody>
      </p:sp>
      <p:sp>
        <p:nvSpPr>
          <p:cNvPr id="19" name="TextBox 18">
            <a:extLst xmlns:a="http://schemas.openxmlformats.org/drawingml/2006/main">
              <a:ext uri="{FF2B5EF4-FFF2-40B4-BE49-F238E27FC236}">
                <a16:creationId xmlns:a16="http://schemas.microsoft.com/office/drawing/2014/main" id="{B1FF8227-FF19-48C2-A87C-4D3B9AEB5147}"/>
              </a:ext>
            </a:extLst>
          </p:cNvPr>
          <p:cNvSpPr>
            <a:spLocks xmlns:a="http://schemas.openxmlformats.org/drawingml/2006/main" noGrp="1"/>
          </p:cNvSpPr>
          <p:nvPr/>
        </p:nvSpPr>
        <p:spPr>
          <a:xfrm xmlns:a="http://schemas.openxmlformats.org/drawingml/2006/main">
            <a:off x="950976" y="3995928"/>
            <a:ext cx="4599432"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DEEEFF"/>
                </a:solidFill>
                <a:latin typeface="Aptos"/>
                <a:ea typeface="Aptos"/>
                <a:cs typeface="Aptos"/>
              </a:rPr>
              <a:t>How to combine message cues and context without excessive false alarms.</a:t>
            </a:r>
          </a:p>
        </p:txBody>
      </p:sp>
      <p:sp>
        <p:nvSpPr>
          <p:cNvPr id="20" name="Rounded Rectangle 19">
            <a:extLst xmlns:a="http://schemas.openxmlformats.org/drawingml/2006/main">
              <a:ext uri="{FF2B5EF4-FFF2-40B4-BE49-F238E27FC236}">
                <a16:creationId xmlns:a16="http://schemas.microsoft.com/office/drawing/2014/main" id="{6A489F72-9B75-480D-B5C4-593FCA4C6DB4}"/>
              </a:ext>
            </a:extLst>
          </p:cNvPr>
          <p:cNvSpPr>
            <a:spLocks xmlns:a="http://schemas.openxmlformats.org/drawingml/2006/main" noGrp="1"/>
          </p:cNvSpPr>
          <p:nvPr/>
        </p:nvSpPr>
        <p:spPr>
          <a:xfrm xmlns:a="http://schemas.openxmlformats.org/drawingml/2006/main">
            <a:off x="6172200" y="3337560"/>
            <a:ext cx="5074920" cy="141732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1096FDAF-4A14-4682-A45A-B1F4A3C90A08}"/>
              </a:ext>
            </a:extLst>
          </p:cNvPr>
          <p:cNvSpPr>
            <a:spLocks xmlns:a="http://schemas.openxmlformats.org/drawingml/2006/main" noGrp="1"/>
          </p:cNvSpPr>
          <p:nvPr/>
        </p:nvSpPr>
        <p:spPr>
          <a:xfrm xmlns:a="http://schemas.openxmlformats.org/drawingml/2006/main">
            <a:off x="6172200" y="3474720"/>
            <a:ext cx="50292" cy="1143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C3F5B6AA-E688-47D0-81CA-1CF517ED2891}"/>
              </a:ext>
            </a:extLst>
          </p:cNvPr>
          <p:cNvSpPr>
            <a:spLocks xmlns:a="http://schemas.openxmlformats.org/drawingml/2006/main" noGrp="1"/>
          </p:cNvSpPr>
          <p:nvPr/>
        </p:nvSpPr>
        <p:spPr>
          <a:xfrm xmlns:a="http://schemas.openxmlformats.org/drawingml/2006/main">
            <a:off x="6373368" y="3502152"/>
            <a:ext cx="46908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Research question</a:t>
            </a:r>
          </a:p>
        </p:txBody>
      </p:sp>
      <p:sp>
        <p:nvSpPr>
          <p:cNvPr id="23" name="TextBox 22">
            <a:extLst xmlns:a="http://schemas.openxmlformats.org/drawingml/2006/main">
              <a:ext uri="{FF2B5EF4-FFF2-40B4-BE49-F238E27FC236}">
                <a16:creationId xmlns:a16="http://schemas.microsoft.com/office/drawing/2014/main" id="{AC9CED4A-B60A-441E-B1B8-6770A342284D}"/>
              </a:ext>
            </a:extLst>
          </p:cNvPr>
          <p:cNvSpPr>
            <a:spLocks xmlns:a="http://schemas.openxmlformats.org/drawingml/2006/main" noGrp="1"/>
          </p:cNvSpPr>
          <p:nvPr/>
        </p:nvSpPr>
        <p:spPr>
          <a:xfrm xmlns:a="http://schemas.openxmlformats.org/drawingml/2006/main">
            <a:off x="6373368" y="3995928"/>
            <a:ext cx="4690872"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DEEEFF"/>
                </a:solidFill>
                <a:latin typeface="Aptos"/>
                <a:ea typeface="Aptos"/>
                <a:cs typeface="Aptos"/>
              </a:rPr>
              <a:t>Does a contextual explanation improve verification decisions over a generic warning?</a:t>
            </a:r>
          </a:p>
        </p:txBody>
      </p:sp>
      <p:sp>
        <p:nvSpPr>
          <p:cNvPr id="24" name="TextBox 23">
            <a:extLst xmlns:a="http://schemas.openxmlformats.org/drawingml/2006/main">
              <a:ext uri="{FF2B5EF4-FFF2-40B4-BE49-F238E27FC236}">
                <a16:creationId xmlns:a16="http://schemas.microsoft.com/office/drawing/2014/main" id="{D8BBE9A2-615B-442F-8CEE-ED5C874BE348}"/>
              </a:ext>
            </a:extLst>
          </p:cNvPr>
          <p:cNvSpPr>
            <a:spLocks xmlns:a="http://schemas.openxmlformats.org/drawingml/2006/main" noGrp="1"/>
          </p:cNvSpPr>
          <p:nvPr/>
        </p:nvSpPr>
        <p:spPr>
          <a:xfrm xmlns:a="http://schemas.openxmlformats.org/drawingml/2006/main">
            <a:off x="822960" y="5349240"/>
            <a:ext cx="10424160"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600" b="0" i="1">
                <a:solidFill>
                  <a:srgbClr val="9EB7D7"/>
                </a:solidFill>
                <a:latin typeface="Aptos"/>
                <a:ea typeface="Aptos"/>
                <a:cs typeface="Aptos"/>
              </a:rPr>
              <a:t>Proposed AI system: concept stage. Current adjunct: transparent rules.</a:t>
            </a:r>
          </a:p>
        </p:txBody>
      </p:sp>
    </p:spTree>
    <p:extLst>
      <p:ext uri="{BB962C8B-B14F-4D97-AF65-F5344CB8AC3E}">
        <p14:creationId xmlns:p14="http://schemas.microsoft.com/office/powerpoint/2010/main" val="1395524423"/>
      </p:ext>
    </p:extLst>
  </p:cSld>
</p:sld>
</file>

<file path=ppt/slides/slide4.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5217699-872F-4545-A9C4-D5496885A37E}"/>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C6A96D3-80A2-460B-B4BD-A4D125BAC344}"/>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03  /  THREAT SIMULATION</a:t>
            </a:r>
          </a:p>
        </p:txBody>
      </p:sp>
      <p:sp>
        <p:nvSpPr>
          <p:cNvPr id="4" name="TextBox 3">
            <a:extLst xmlns:a="http://schemas.openxmlformats.org/drawingml/2006/main">
              <a:ext uri="{FF2B5EF4-FFF2-40B4-BE49-F238E27FC236}">
                <a16:creationId xmlns:a16="http://schemas.microsoft.com/office/drawing/2014/main" id="{CE24BCC3-0EB6-4D5D-A99F-1F4F2501C43F}"/>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Training Scenario: The 30-Second Trap</a:t>
            </a:r>
          </a:p>
        </p:txBody>
      </p:sp>
      <p:sp>
        <p:nvSpPr>
          <p:cNvPr id="5" name="Rectangle 4">
            <a:extLst xmlns:a="http://schemas.openxmlformats.org/drawingml/2006/main">
              <a:ext uri="{FF2B5EF4-FFF2-40B4-BE49-F238E27FC236}">
                <a16:creationId xmlns:a16="http://schemas.microsoft.com/office/drawing/2014/main" id="{7848A863-0969-4F82-85F1-5C574FB2D539}"/>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08E48F8-DE54-4947-B4FB-98922AB5057A}"/>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04</a:t>
            </a:r>
          </a:p>
        </p:txBody>
      </p:sp>
      <p:sp>
        <p:nvSpPr>
          <p:cNvPr id="7" name="Rounded Rectangle 6">
            <a:extLst xmlns:a="http://schemas.openxmlformats.org/drawingml/2006/main">
              <a:ext uri="{FF2B5EF4-FFF2-40B4-BE49-F238E27FC236}">
                <a16:creationId xmlns:a16="http://schemas.microsoft.com/office/drawing/2014/main" id="{DDE5AA0D-08E6-4C78-9BDB-5B4C4CB2937D}"/>
              </a:ext>
            </a:extLst>
          </p:cNvPr>
          <p:cNvSpPr>
            <a:spLocks xmlns:a="http://schemas.openxmlformats.org/drawingml/2006/main" noGrp="1"/>
          </p:cNvSpPr>
          <p:nvPr/>
        </p:nvSpPr>
        <p:spPr>
          <a:xfrm xmlns:a="http://schemas.openxmlformats.org/drawingml/2006/main">
            <a:off x="749808" y="1737360"/>
            <a:ext cx="6629400" cy="338328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756020FA-6F00-4C29-8EE6-7E7B1A70F4F8}"/>
              </a:ext>
            </a:extLst>
          </p:cNvPr>
          <p:cNvSpPr>
            <a:spLocks xmlns:a="http://schemas.openxmlformats.org/drawingml/2006/main" noGrp="1"/>
          </p:cNvSpPr>
          <p:nvPr/>
        </p:nvSpPr>
        <p:spPr>
          <a:xfrm xmlns:a="http://schemas.openxmlformats.org/drawingml/2006/main">
            <a:off x="749808" y="1874519"/>
            <a:ext cx="50292" cy="3108960"/>
          </a:xfrm>
          <a:prstGeom xmlns:a="http://schemas.openxmlformats.org/drawingml/2006/main" prst="rect">
            <a:avLst/>
          </a:prstGeom>
          <a:solidFill xmlns:a="http://schemas.openxmlformats.org/drawingml/2006/main">
            <a:srgbClr val="FF59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3C0857F-2D88-4A56-96FD-B6469EA10DE0}"/>
              </a:ext>
            </a:extLst>
          </p:cNvPr>
          <p:cNvSpPr>
            <a:spLocks xmlns:a="http://schemas.openxmlformats.org/drawingml/2006/main" noGrp="1"/>
          </p:cNvSpPr>
          <p:nvPr/>
        </p:nvSpPr>
        <p:spPr>
          <a:xfrm xmlns:a="http://schemas.openxmlformats.org/drawingml/2006/main">
            <a:off x="950976" y="1901952"/>
            <a:ext cx="6245352"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1" i="0">
                <a:solidFill>
                  <a:srgbClr val="FAFCFF"/>
                </a:solidFill>
                <a:latin typeface="Aptos"/>
                <a:ea typeface="Aptos"/>
                <a:cs typeface="Aptos"/>
              </a:rPr>
              <a:t>SYNTHETIC TRAINING MESSAGE</a:t>
            </a:r>
          </a:p>
        </p:txBody>
      </p:sp>
      <p:sp>
        <p:nvSpPr>
          <p:cNvPr id="10" name="TextBox 9">
            <a:extLst xmlns:a="http://schemas.openxmlformats.org/drawingml/2006/main">
              <a:ext uri="{FF2B5EF4-FFF2-40B4-BE49-F238E27FC236}">
                <a16:creationId xmlns:a16="http://schemas.microsoft.com/office/drawing/2014/main" id="{D3D863FE-C230-454A-99D3-99A94623E0CA}"/>
              </a:ext>
            </a:extLst>
          </p:cNvPr>
          <p:cNvSpPr>
            <a:spLocks xmlns:a="http://schemas.openxmlformats.org/drawingml/2006/main" noGrp="1"/>
          </p:cNvSpPr>
          <p:nvPr/>
        </p:nvSpPr>
        <p:spPr>
          <a:xfrm xmlns:a="http://schemas.openxmlformats.org/drawingml/2006/main">
            <a:off x="1078992" y="2487168"/>
            <a:ext cx="5943600"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F5970"/>
                </a:solidFill>
                <a:latin typeface="Aptos"/>
                <a:ea typeface="Aptos"/>
                <a:cs typeface="Aptos"/>
              </a:rPr>
              <a:t>UNVERIFIED COMMANDER CLAIM</a:t>
            </a:r>
          </a:p>
        </p:txBody>
      </p:sp>
      <p:sp>
        <p:nvSpPr>
          <p:cNvPr id="11" name="TextBox 10">
            <a:extLst xmlns:a="http://schemas.openxmlformats.org/drawingml/2006/main">
              <a:ext uri="{FF2B5EF4-FFF2-40B4-BE49-F238E27FC236}">
                <a16:creationId xmlns:a16="http://schemas.microsoft.com/office/drawing/2014/main" id="{4CDDDCA7-ABA2-4949-BB56-25860624A0FC}"/>
              </a:ext>
            </a:extLst>
          </p:cNvPr>
          <p:cNvSpPr>
            <a:spLocks xmlns:a="http://schemas.openxmlformats.org/drawingml/2006/main" noGrp="1"/>
          </p:cNvSpPr>
          <p:nvPr/>
        </p:nvSpPr>
        <p:spPr>
          <a:xfrm xmlns:a="http://schemas.openxmlformats.org/drawingml/2006/main">
            <a:off x="1078992" y="3063240"/>
            <a:ext cx="5806440" cy="633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900" b="1" i="0">
                <a:solidFill>
                  <a:srgbClr val="FAFCFF"/>
                </a:solidFill>
                <a:latin typeface="Aptos"/>
                <a:ea typeface="Aptos"/>
                <a:cs typeface="Aptos"/>
              </a:rPr>
              <a:t>“Enemy aircraft detected. Click immediately to activate emergency defence. You have only 30 seconds.”</a:t>
            </a:r>
          </a:p>
        </p:txBody>
      </p:sp>
      <p:sp>
        <p:nvSpPr>
          <p:cNvPr id="12" name="Rounded Rectangle 11">
            <a:extLst xmlns:a="http://schemas.openxmlformats.org/drawingml/2006/main">
              <a:ext uri="{FF2B5EF4-FFF2-40B4-BE49-F238E27FC236}">
                <a16:creationId xmlns:a16="http://schemas.microsoft.com/office/drawing/2014/main" id="{B8B83CD4-D949-4DD0-8300-0E5E5B3075A1}"/>
              </a:ext>
            </a:extLst>
          </p:cNvPr>
          <p:cNvSpPr>
            <a:spLocks xmlns:a="http://schemas.openxmlformats.org/drawingml/2006/main" noGrp="1"/>
          </p:cNvSpPr>
          <p:nvPr/>
        </p:nvSpPr>
        <p:spPr>
          <a:xfrm xmlns:a="http://schemas.openxmlformats.org/drawingml/2006/main">
            <a:off x="1097280" y="4251960"/>
            <a:ext cx="2011680" cy="384048"/>
          </a:xfrm>
          <a:prstGeom xmlns:a="http://schemas.openxmlformats.org/drawingml/2006/main" prst="roundRect">
            <a:avLst/>
          </a:prstGeom>
          <a:solidFill xmlns:a="http://schemas.openxmlformats.org/drawingml/2006/main">
            <a:srgbClr val="FF59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29F0AE2E-C8B8-4CFC-A10D-D2C014A7A236}"/>
              </a:ext>
            </a:extLst>
          </p:cNvPr>
          <p:cNvSpPr>
            <a:spLocks xmlns:a="http://schemas.openxmlformats.org/drawingml/2006/main" noGrp="1"/>
          </p:cNvSpPr>
          <p:nvPr/>
        </p:nvSpPr>
        <p:spPr>
          <a:xfrm xmlns:a="http://schemas.openxmlformats.org/drawingml/2006/main">
            <a:off x="1152144" y="4288536"/>
            <a:ext cx="1901952"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TIME PRESSURE CUE</a:t>
            </a:r>
          </a:p>
        </p:txBody>
      </p:sp>
      <p:sp>
        <p:nvSpPr>
          <p:cNvPr id="14" name="TextBox 13">
            <a:extLst xmlns:a="http://schemas.openxmlformats.org/drawingml/2006/main">
              <a:ext uri="{FF2B5EF4-FFF2-40B4-BE49-F238E27FC236}">
                <a16:creationId xmlns:a16="http://schemas.microsoft.com/office/drawing/2014/main" id="{62287C90-0A20-4AEB-B7C4-CF6052471080}"/>
              </a:ext>
            </a:extLst>
          </p:cNvPr>
          <p:cNvSpPr>
            <a:spLocks xmlns:a="http://schemas.openxmlformats.org/drawingml/2006/main" noGrp="1"/>
          </p:cNvSpPr>
          <p:nvPr/>
        </p:nvSpPr>
        <p:spPr>
          <a:xfrm xmlns:a="http://schemas.openxmlformats.org/drawingml/2006/main">
            <a:off x="7818120" y="1874519"/>
            <a:ext cx="3200400" cy="344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900" b="1" i="0">
                <a:solidFill>
                  <a:srgbClr val="FAFCFF"/>
                </a:solidFill>
                <a:latin typeface="Aptos"/>
                <a:ea typeface="Aptos"/>
                <a:cs typeface="Aptos"/>
              </a:rPr>
              <a:t>Review questions</a:t>
            </a:r>
          </a:p>
        </p:txBody>
      </p:sp>
      <p:sp>
        <p:nvSpPr>
          <p:cNvPr id="15" name="TextBox 14">
            <a:extLst xmlns:a="http://schemas.openxmlformats.org/drawingml/2006/main">
              <a:ext uri="{FF2B5EF4-FFF2-40B4-BE49-F238E27FC236}">
                <a16:creationId xmlns:a16="http://schemas.microsoft.com/office/drawing/2014/main" id="{0FE32336-3C81-435A-87D7-E9261ECD1D74}"/>
              </a:ext>
            </a:extLst>
          </p:cNvPr>
          <p:cNvSpPr>
            <a:spLocks xmlns:a="http://schemas.openxmlformats.org/drawingml/2006/main" noGrp="1"/>
          </p:cNvSpPr>
          <p:nvPr/>
        </p:nvSpPr>
        <p:spPr>
          <a:xfrm xmlns:a="http://schemas.openxmlformats.org/drawingml/2006/main">
            <a:off x="7790688" y="2423160"/>
            <a:ext cx="3337560" cy="15255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1300"/>
              </a:spcAft>
              <a:buNone/>
              <a:defRPr sz="1600">
                <a:solidFill>
                  <a:srgbClr val="DEEEFF"/>
                </a:solidFill>
                <a:latin typeface="Aptos"/>
                <a:ea typeface="Aptos"/>
                <a:cs typeface="Aptos"/>
              </a:defRPr>
            </a:pPr>
            <a:r>
              <a:t>Who authenticated the sender?</a:t>
            </a:r>
          </a:p>
          <a:p xmlns:a="http://schemas.openxmlformats.org/drawingml/2006/main">
            <a:pPr>
              <a:spcAft>
                <a:spcPts val="1300"/>
              </a:spcAft>
              <a:buNone/>
              <a:defRPr sz="1600">
                <a:solidFill>
                  <a:srgbClr val="DEEEFF"/>
                </a:solidFill>
                <a:latin typeface="Aptos"/>
                <a:ea typeface="Aptos"/>
                <a:cs typeface="Aptos"/>
              </a:defRPr>
            </a:pPr>
            <a:r>
              <a:t>Why the countdown?</a:t>
            </a:r>
          </a:p>
          <a:p xmlns:a="http://schemas.openxmlformats.org/drawingml/2006/main">
            <a:pPr>
              <a:spcAft>
                <a:spcPts val="1300"/>
              </a:spcAft>
              <a:buNone/>
              <a:defRPr sz="1600">
                <a:solidFill>
                  <a:srgbClr val="DEEEFF"/>
                </a:solidFill>
                <a:latin typeface="Aptos"/>
                <a:ea typeface="Aptos"/>
                <a:cs typeface="Aptos"/>
              </a:defRPr>
            </a:pPr>
            <a:r>
              <a:t>What does the link open?</a:t>
            </a:r>
          </a:p>
          <a:p xmlns:a="http://schemas.openxmlformats.org/drawingml/2006/main">
            <a:pPr>
              <a:spcAft>
                <a:spcPts val="1300"/>
              </a:spcAft>
              <a:buNone/>
              <a:defRPr sz="1600">
                <a:solidFill>
                  <a:srgbClr val="DEEEFF"/>
                </a:solidFill>
                <a:latin typeface="Aptos"/>
                <a:ea typeface="Aptos"/>
                <a:cs typeface="Aptos"/>
              </a:defRPr>
            </a:pPr>
            <a:r>
              <a:t>Which procedure applies?</a:t>
            </a:r>
          </a:p>
        </p:txBody>
      </p:sp>
      <p:sp>
        <p:nvSpPr>
          <p:cNvPr id="16" name="TextBox 15">
            <a:extLst xmlns:a="http://schemas.openxmlformats.org/drawingml/2006/main">
              <a:ext uri="{FF2B5EF4-FFF2-40B4-BE49-F238E27FC236}">
                <a16:creationId xmlns:a16="http://schemas.microsoft.com/office/drawing/2014/main" id="{CAD096A2-3438-4ACA-96DA-617DBEEADD78}"/>
              </a:ext>
            </a:extLst>
          </p:cNvPr>
          <p:cNvSpPr>
            <a:spLocks xmlns:a="http://schemas.openxmlformats.org/drawingml/2006/main" noGrp="1"/>
          </p:cNvSpPr>
          <p:nvPr/>
        </p:nvSpPr>
        <p:spPr>
          <a:xfrm xmlns:a="http://schemas.openxmlformats.org/drawingml/2006/main">
            <a:off x="822960" y="5623560"/>
            <a:ext cx="10515600"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800" b="1" i="0">
                <a:solidFill>
                  <a:srgbClr val="2ADAF5"/>
                </a:solidFill>
                <a:latin typeface="Aptos"/>
                <a:ea typeface="Aptos"/>
                <a:cs typeface="Aptos"/>
              </a:rPr>
              <a:t>Training only. Live systems require established authentication and response procedures.</a:t>
            </a:r>
          </a:p>
        </p:txBody>
      </p:sp>
    </p:spTree>
    <p:extLst>
      <p:ext uri="{BB962C8B-B14F-4D97-AF65-F5344CB8AC3E}">
        <p14:creationId xmlns:p14="http://schemas.microsoft.com/office/powerpoint/2010/main" val="1833584074"/>
      </p:ext>
    </p:extLst>
  </p:cSld>
</p:sld>
</file>

<file path=ppt/slides/slide5.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9EF0A41-5C8F-4EB9-AE64-3BF34511E181}"/>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32E6AE9-9323-48CF-B95A-041AC7E9E5F4}"/>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04  /  THE INTERDISCIPLINARY LENS</a:t>
            </a:r>
          </a:p>
        </p:txBody>
      </p:sp>
      <p:sp>
        <p:nvSpPr>
          <p:cNvPr id="4" name="TextBox 3">
            <a:extLst xmlns:a="http://schemas.openxmlformats.org/drawingml/2006/main">
              <a:ext uri="{FF2B5EF4-FFF2-40B4-BE49-F238E27FC236}">
                <a16:creationId xmlns:a16="http://schemas.microsoft.com/office/drawing/2014/main" id="{B92D52F8-EF7E-40DF-A406-2F2C7D77036A}"/>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Message Evidence and Human Context</a:t>
            </a:r>
          </a:p>
        </p:txBody>
      </p:sp>
      <p:sp>
        <p:nvSpPr>
          <p:cNvPr id="5" name="Rectangle 4">
            <a:extLst xmlns:a="http://schemas.openxmlformats.org/drawingml/2006/main">
              <a:ext uri="{FF2B5EF4-FFF2-40B4-BE49-F238E27FC236}">
                <a16:creationId xmlns:a16="http://schemas.microsoft.com/office/drawing/2014/main" id="{5ACE85B9-A771-4CD5-96EB-AC8E40FCC7C7}"/>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C52ED3B-0A06-487D-8039-E5EE1C1CC1BC}"/>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05</a:t>
            </a:r>
          </a:p>
        </p:txBody>
      </p:sp>
      <p:sp>
        <p:nvSpPr>
          <p:cNvPr id="7" name="Rounded Rectangle 6">
            <a:extLst xmlns:a="http://schemas.openxmlformats.org/drawingml/2006/main">
              <a:ext uri="{FF2B5EF4-FFF2-40B4-BE49-F238E27FC236}">
                <a16:creationId xmlns:a16="http://schemas.microsoft.com/office/drawing/2014/main" id="{4F758B40-87CA-4639-A279-095752A5D83D}"/>
              </a:ext>
            </a:extLst>
          </p:cNvPr>
          <p:cNvSpPr>
            <a:spLocks xmlns:a="http://schemas.openxmlformats.org/drawingml/2006/main" noGrp="1"/>
          </p:cNvSpPr>
          <p:nvPr/>
        </p:nvSpPr>
        <p:spPr>
          <a:xfrm xmlns:a="http://schemas.openxmlformats.org/drawingml/2006/main">
            <a:off x="777240" y="1874519"/>
            <a:ext cx="4069080" cy="301752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930F9135-75FC-44BF-9922-462CFAF750DB}"/>
              </a:ext>
            </a:extLst>
          </p:cNvPr>
          <p:cNvSpPr>
            <a:spLocks xmlns:a="http://schemas.openxmlformats.org/drawingml/2006/main" noGrp="1"/>
          </p:cNvSpPr>
          <p:nvPr/>
        </p:nvSpPr>
        <p:spPr>
          <a:xfrm xmlns:a="http://schemas.openxmlformats.org/drawingml/2006/main">
            <a:off x="777240" y="2011679"/>
            <a:ext cx="50292" cy="2743200"/>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F2D4C8FE-0FA1-40AF-9BC3-73740D30CB76}"/>
              </a:ext>
            </a:extLst>
          </p:cNvPr>
          <p:cNvSpPr>
            <a:spLocks xmlns:a="http://schemas.openxmlformats.org/drawingml/2006/main" noGrp="1"/>
          </p:cNvSpPr>
          <p:nvPr/>
        </p:nvSpPr>
        <p:spPr>
          <a:xfrm xmlns:a="http://schemas.openxmlformats.org/drawingml/2006/main">
            <a:off x="978408" y="2039112"/>
            <a:ext cx="36850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900" b="1" i="0">
                <a:solidFill>
                  <a:srgbClr val="FAFCFF"/>
                </a:solidFill>
                <a:latin typeface="Aptos"/>
                <a:ea typeface="Aptos"/>
                <a:cs typeface="Aptos"/>
              </a:rPr>
              <a:t>CYBERSECURITY</a:t>
            </a:r>
          </a:p>
        </p:txBody>
      </p:sp>
      <p:sp>
        <p:nvSpPr>
          <p:cNvPr id="10" name="TextBox 9">
            <a:extLst xmlns:a="http://schemas.openxmlformats.org/drawingml/2006/main">
              <a:ext uri="{FF2B5EF4-FFF2-40B4-BE49-F238E27FC236}">
                <a16:creationId xmlns:a16="http://schemas.microsoft.com/office/drawing/2014/main" id="{40B51C4E-995A-4B4D-A271-7CF8B77ABE81}"/>
              </a:ext>
            </a:extLst>
          </p:cNvPr>
          <p:cNvSpPr>
            <a:spLocks xmlns:a="http://schemas.openxmlformats.org/drawingml/2006/main" noGrp="1"/>
          </p:cNvSpPr>
          <p:nvPr/>
        </p:nvSpPr>
        <p:spPr>
          <a:xfrm xmlns:a="http://schemas.openxmlformats.org/drawingml/2006/main">
            <a:off x="960120" y="2532887"/>
            <a:ext cx="3721608" cy="12969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600">
                <a:solidFill>
                  <a:srgbClr val="DEEEFF"/>
                </a:solidFill>
                <a:latin typeface="Aptos"/>
                <a:ea typeface="Aptos"/>
                <a:cs typeface="Aptos"/>
              </a:defRPr>
            </a:pPr>
            <a:r>
              <a:t>Inspect visible URL hosts</a:t>
            </a:r>
          </a:p>
          <a:p xmlns:a="http://schemas.openxmlformats.org/drawingml/2006/main">
            <a:pPr>
              <a:spcAft>
                <a:spcPts val="700"/>
              </a:spcAft>
              <a:buNone/>
              <a:defRPr sz="1600">
                <a:solidFill>
                  <a:srgbClr val="DEEEFF"/>
                </a:solidFill>
                <a:latin typeface="Aptos"/>
                <a:ea typeface="Aptos"/>
                <a:cs typeface="Aptos"/>
              </a:defRPr>
            </a:pPr>
            <a:r>
              <a:t>Compare a stated domain</a:t>
            </a:r>
          </a:p>
          <a:p xmlns:a="http://schemas.openxmlformats.org/drawingml/2006/main">
            <a:pPr>
              <a:spcAft>
                <a:spcPts val="700"/>
              </a:spcAft>
              <a:buNone/>
              <a:defRPr sz="1600">
                <a:solidFill>
                  <a:srgbClr val="DEEEFF"/>
                </a:solidFill>
                <a:latin typeface="Aptos"/>
                <a:ea typeface="Aptos"/>
                <a:cs typeface="Aptos"/>
              </a:defRPr>
            </a:pPr>
            <a:r>
              <a:t>Identify secret requests</a:t>
            </a:r>
          </a:p>
          <a:p xmlns:a="http://schemas.openxmlformats.org/drawingml/2006/main">
            <a:pPr>
              <a:spcAft>
                <a:spcPts val="700"/>
              </a:spcAft>
              <a:buNone/>
              <a:defRPr sz="1600">
                <a:solidFill>
                  <a:srgbClr val="DEEEFF"/>
                </a:solidFill>
                <a:latin typeface="Aptos"/>
                <a:ea typeface="Aptos"/>
                <a:cs typeface="Aptos"/>
              </a:defRPr>
            </a:pPr>
            <a:r>
              <a:t>Leave links unopened</a:t>
            </a:r>
          </a:p>
        </p:txBody>
      </p:sp>
      <p:sp>
        <p:nvSpPr>
          <p:cNvPr id="11" name="Rounded Rectangle 10">
            <a:extLst xmlns:a="http://schemas.openxmlformats.org/drawingml/2006/main">
              <a:ext uri="{FF2B5EF4-FFF2-40B4-BE49-F238E27FC236}">
                <a16:creationId xmlns:a16="http://schemas.microsoft.com/office/drawing/2014/main" id="{C651072B-7CB9-427E-9017-055506576FF5}"/>
              </a:ext>
            </a:extLst>
          </p:cNvPr>
          <p:cNvSpPr>
            <a:spLocks xmlns:a="http://schemas.openxmlformats.org/drawingml/2006/main" noGrp="1"/>
          </p:cNvSpPr>
          <p:nvPr/>
        </p:nvSpPr>
        <p:spPr>
          <a:xfrm xmlns:a="http://schemas.openxmlformats.org/drawingml/2006/main">
            <a:off x="7360920" y="1874519"/>
            <a:ext cx="4069080" cy="301752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83191AD-A055-404D-846D-8B6D473F0800}"/>
              </a:ext>
            </a:extLst>
          </p:cNvPr>
          <p:cNvSpPr>
            <a:spLocks xmlns:a="http://schemas.openxmlformats.org/drawingml/2006/main" noGrp="1"/>
          </p:cNvSpPr>
          <p:nvPr/>
        </p:nvSpPr>
        <p:spPr>
          <a:xfrm xmlns:a="http://schemas.openxmlformats.org/drawingml/2006/main">
            <a:off x="7360920" y="2011679"/>
            <a:ext cx="50292" cy="27432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E7BA3BD-2FF5-4986-852A-672D5CF2C666}"/>
              </a:ext>
            </a:extLst>
          </p:cNvPr>
          <p:cNvSpPr>
            <a:spLocks xmlns:a="http://schemas.openxmlformats.org/drawingml/2006/main" noGrp="1"/>
          </p:cNvSpPr>
          <p:nvPr/>
        </p:nvSpPr>
        <p:spPr>
          <a:xfrm xmlns:a="http://schemas.openxmlformats.org/drawingml/2006/main">
            <a:off x="7562088" y="2039112"/>
            <a:ext cx="3685032" cy="344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900" b="1" i="0">
                <a:solidFill>
                  <a:srgbClr val="FAFCFF"/>
                </a:solidFill>
                <a:latin typeface="Aptos"/>
                <a:ea typeface="Aptos"/>
                <a:cs typeface="Aptos"/>
              </a:rPr>
              <a:t>HUMAN CONTEXT</a:t>
            </a:r>
          </a:p>
        </p:txBody>
      </p:sp>
      <p:sp>
        <p:nvSpPr>
          <p:cNvPr id="14" name="TextBox 13">
            <a:extLst xmlns:a="http://schemas.openxmlformats.org/drawingml/2006/main">
              <a:ext uri="{FF2B5EF4-FFF2-40B4-BE49-F238E27FC236}">
                <a16:creationId xmlns:a16="http://schemas.microsoft.com/office/drawing/2014/main" id="{87CA7527-85A0-4565-AA3D-468605510659}"/>
              </a:ext>
            </a:extLst>
          </p:cNvPr>
          <p:cNvSpPr>
            <a:spLocks xmlns:a="http://schemas.openxmlformats.org/drawingml/2006/main" noGrp="1"/>
          </p:cNvSpPr>
          <p:nvPr/>
        </p:nvSpPr>
        <p:spPr>
          <a:xfrm xmlns:a="http://schemas.openxmlformats.org/drawingml/2006/main">
            <a:off x="7543800" y="2532887"/>
            <a:ext cx="3721608" cy="12969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600">
                <a:solidFill>
                  <a:srgbClr val="DEEEFF"/>
                </a:solidFill>
                <a:latin typeface="Aptos"/>
                <a:ea typeface="Aptos"/>
                <a:cs typeface="Aptos"/>
              </a:defRPr>
            </a:pPr>
            <a:r>
              <a:t>Explain pressure language</a:t>
            </a:r>
          </a:p>
          <a:p xmlns:a="http://schemas.openxmlformats.org/drawingml/2006/main">
            <a:pPr>
              <a:spcAft>
                <a:spcPts val="700"/>
              </a:spcAft>
              <a:buNone/>
              <a:defRPr sz="1600">
                <a:solidFill>
                  <a:srgbClr val="DEEEFF"/>
                </a:solidFill>
                <a:latin typeface="Aptos"/>
                <a:ea typeface="Aptos"/>
                <a:cs typeface="Aptos"/>
              </a:defRPr>
            </a:pPr>
            <a:r>
              <a:t>Evaluate legitimate urgency</a:t>
            </a:r>
          </a:p>
          <a:p xmlns:a="http://schemas.openxmlformats.org/drawingml/2006/main">
            <a:pPr>
              <a:spcAft>
                <a:spcPts val="700"/>
              </a:spcAft>
              <a:buNone/>
              <a:defRPr sz="1600">
                <a:solidFill>
                  <a:srgbClr val="DEEEFF"/>
                </a:solidFill>
                <a:latin typeface="Aptos"/>
                <a:ea typeface="Aptos"/>
                <a:cs typeface="Aptos"/>
              </a:defRPr>
            </a:pPr>
            <a:r>
              <a:t>Support independent checks</a:t>
            </a:r>
          </a:p>
          <a:p xmlns:a="http://schemas.openxmlformats.org/drawingml/2006/main">
            <a:pPr>
              <a:spcAft>
                <a:spcPts val="700"/>
              </a:spcAft>
              <a:buNone/>
              <a:defRPr sz="1600">
                <a:solidFill>
                  <a:srgbClr val="DEEEFF"/>
                </a:solidFill>
                <a:latin typeface="Aptos"/>
                <a:ea typeface="Aptos"/>
                <a:cs typeface="Aptos"/>
              </a:defRPr>
            </a:pPr>
            <a:r>
              <a:t>Measure warning burden</a:t>
            </a:r>
          </a:p>
        </p:txBody>
      </p:sp>
      <p:sp>
        <p:nvSpPr>
          <p:cNvPr id="15" name="TextBox 14">
            <a:extLst xmlns:a="http://schemas.openxmlformats.org/drawingml/2006/main">
              <a:ext uri="{FF2B5EF4-FFF2-40B4-BE49-F238E27FC236}">
                <a16:creationId xmlns:a16="http://schemas.microsoft.com/office/drawing/2014/main" id="{6A17DF3F-50CF-4B1E-A3FB-2EA0D0C20259}"/>
              </a:ext>
            </a:extLst>
          </p:cNvPr>
          <p:cNvSpPr>
            <a:spLocks xmlns:a="http://schemas.openxmlformats.org/drawingml/2006/main" noGrp="1"/>
          </p:cNvSpPr>
          <p:nvPr/>
        </p:nvSpPr>
        <p:spPr>
          <a:xfrm xmlns:a="http://schemas.openxmlformats.org/drawingml/2006/main">
            <a:off x="5166360" y="2651760"/>
            <a:ext cx="914400" cy="694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4200" b="1" i="0">
                <a:solidFill>
                  <a:srgbClr val="2ADAF5"/>
                </a:solidFill>
                <a:latin typeface="Aptos"/>
                <a:ea typeface="Aptos"/>
                <a:cs typeface="Aptos"/>
              </a:rPr>
              <a:t/>
            </a:r>
          </a:p>
        </p:txBody>
      </p:sp>
      <p:sp>
        <p:nvSpPr>
          <p:cNvPr id="16" name="TextBox 15">
            <a:extLst xmlns:a="http://schemas.openxmlformats.org/drawingml/2006/main">
              <a:ext uri="{FF2B5EF4-FFF2-40B4-BE49-F238E27FC236}">
                <a16:creationId xmlns:a16="http://schemas.microsoft.com/office/drawing/2014/main" id="{DC02933B-2099-4091-BC67-DDF44A5EF7A6}"/>
              </a:ext>
            </a:extLst>
          </p:cNvPr>
          <p:cNvSpPr>
            <a:spLocks xmlns:a="http://schemas.openxmlformats.org/drawingml/2006/main" noGrp="1"/>
          </p:cNvSpPr>
          <p:nvPr/>
        </p:nvSpPr>
        <p:spPr>
          <a:xfrm xmlns:a="http://schemas.openxmlformats.org/drawingml/2006/main">
            <a:off x="5925312" y="2651760"/>
            <a:ext cx="548640" cy="5730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3400" b="1" i="0">
                <a:solidFill>
                  <a:srgbClr val="FAFCFF"/>
                </a:solidFill>
                <a:latin typeface="Aptos"/>
                <a:ea typeface="Aptos"/>
                <a:cs typeface="Aptos"/>
              </a:rPr>
              <a:t>+</a:t>
            </a:r>
          </a:p>
        </p:txBody>
      </p:sp>
      <p:sp>
        <p:nvSpPr>
          <p:cNvPr id="17" name="TextBox 16">
            <a:extLst xmlns:a="http://schemas.openxmlformats.org/drawingml/2006/main">
              <a:ext uri="{FF2B5EF4-FFF2-40B4-BE49-F238E27FC236}">
                <a16:creationId xmlns:a16="http://schemas.microsoft.com/office/drawing/2014/main" id="{714BEFDA-066C-457E-B6FD-134987CBDE1D}"/>
              </a:ext>
            </a:extLst>
          </p:cNvPr>
          <p:cNvSpPr>
            <a:spLocks xmlns:a="http://schemas.openxmlformats.org/drawingml/2006/main" noGrp="1"/>
          </p:cNvSpPr>
          <p:nvPr/>
        </p:nvSpPr>
        <p:spPr>
          <a:xfrm xmlns:a="http://schemas.openxmlformats.org/drawingml/2006/main">
            <a:off x="6400800" y="2651760"/>
            <a:ext cx="640080" cy="694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4200" b="1" i="0">
                <a:solidFill>
                  <a:srgbClr val="2ADAF5"/>
                </a:solidFill>
                <a:latin typeface="Aptos"/>
                <a:ea typeface="Aptos"/>
                <a:cs typeface="Aptos"/>
              </a:rPr>
              <a:t/>
            </a:r>
          </a:p>
        </p:txBody>
      </p:sp>
      <p:sp>
        <p:nvSpPr>
          <p:cNvPr id="18" name="Rounded Rectangle 17">
            <a:extLst xmlns:a="http://schemas.openxmlformats.org/drawingml/2006/main">
              <a:ext uri="{FF2B5EF4-FFF2-40B4-BE49-F238E27FC236}">
                <a16:creationId xmlns:a16="http://schemas.microsoft.com/office/drawing/2014/main" id="{E896288D-62CF-4BFC-804A-DAAC37AB01F3}"/>
              </a:ext>
            </a:extLst>
          </p:cNvPr>
          <p:cNvSpPr>
            <a:spLocks xmlns:a="http://schemas.openxmlformats.org/drawingml/2006/main" noGrp="1"/>
          </p:cNvSpPr>
          <p:nvPr/>
        </p:nvSpPr>
        <p:spPr>
          <a:xfrm xmlns:a="http://schemas.openxmlformats.org/drawingml/2006/main">
            <a:off x="2743200" y="5257800"/>
            <a:ext cx="6675120" cy="77724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360AB2A3-820E-4A67-92C7-2A95FB53510B}"/>
              </a:ext>
            </a:extLst>
          </p:cNvPr>
          <p:cNvSpPr>
            <a:spLocks xmlns:a="http://schemas.openxmlformats.org/drawingml/2006/main" noGrp="1"/>
          </p:cNvSpPr>
          <p:nvPr/>
        </p:nvSpPr>
        <p:spPr>
          <a:xfrm xmlns:a="http://schemas.openxmlformats.org/drawingml/2006/main">
            <a:off x="2743200" y="5394960"/>
            <a:ext cx="50292" cy="50292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770BA07-F59B-4B62-931A-92FDC82F0EC2}"/>
              </a:ext>
            </a:extLst>
          </p:cNvPr>
          <p:cNvSpPr>
            <a:spLocks xmlns:a="http://schemas.openxmlformats.org/drawingml/2006/main" noGrp="1"/>
          </p:cNvSpPr>
          <p:nvPr/>
        </p:nvSpPr>
        <p:spPr>
          <a:xfrm xmlns:a="http://schemas.openxmlformats.org/drawingml/2006/main">
            <a:off x="2944368" y="5422392"/>
            <a:ext cx="6291072"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EXPLAINABLE DECISION SUPPORT</a:t>
            </a:r>
          </a:p>
        </p:txBody>
      </p:sp>
      <p:sp>
        <p:nvSpPr>
          <p:cNvPr id="21" name="TextBox 20">
            <a:extLst xmlns:a="http://schemas.openxmlformats.org/drawingml/2006/main">
              <a:ext uri="{FF2B5EF4-FFF2-40B4-BE49-F238E27FC236}">
                <a16:creationId xmlns:a16="http://schemas.microsoft.com/office/drawing/2014/main" id="{6B2B0986-593B-4920-A71A-191DB0706071}"/>
              </a:ext>
            </a:extLst>
          </p:cNvPr>
          <p:cNvSpPr>
            <a:spLocks xmlns:a="http://schemas.openxmlformats.org/drawingml/2006/main" noGrp="1"/>
          </p:cNvSpPr>
          <p:nvPr/>
        </p:nvSpPr>
        <p:spPr>
          <a:xfrm xmlns:a="http://schemas.openxmlformats.org/drawingml/2006/main">
            <a:off x="2944368" y="5800725"/>
            <a:ext cx="6291072" cy="1981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1300">
                <a:solidFill>
                  <a:srgbClr val="DEEEFF"/>
                </a:solidFill>
                <a:latin typeface="Aptos"/>
                <a:ea typeface="Aptos"/>
                <a:cs typeface="Aptos"/>
              </a:defRPr>
            </a:defPPr>
            <a:lvl1pPr>
              <a:defRPr sz="1300">
                <a:solidFill>
                  <a:srgbClr val="DEEEFF"/>
                </a:solidFill>
                <a:latin typeface="Aptos"/>
                <a:ea typeface="Aptos"/>
                <a:cs typeface="Aptos"/>
              </a:defRPr>
            </a:lvl1pPr>
            <a:lvl2pPr>
              <a:defRPr sz="1300">
                <a:solidFill>
                  <a:srgbClr val="DEEEFF"/>
                </a:solidFill>
                <a:latin typeface="Aptos"/>
                <a:ea typeface="Aptos"/>
                <a:cs typeface="Aptos"/>
              </a:defRPr>
            </a:lvl2pPr>
            <a:lvl3pPr>
              <a:defRPr sz="1300">
                <a:solidFill>
                  <a:srgbClr val="DEEEFF"/>
                </a:solidFill>
                <a:latin typeface="Aptos"/>
                <a:ea typeface="Aptos"/>
                <a:cs typeface="Aptos"/>
              </a:defRPr>
            </a:lvl3pPr>
            <a:lvl4pPr>
              <a:defRPr sz="1300">
                <a:solidFill>
                  <a:srgbClr val="DEEEFF"/>
                </a:solidFill>
                <a:latin typeface="Aptos"/>
                <a:ea typeface="Aptos"/>
                <a:cs typeface="Aptos"/>
              </a:defRPr>
            </a:lvl4pPr>
            <a:lvl5pPr>
              <a:defRPr sz="1300">
                <a:solidFill>
                  <a:srgbClr val="DEEEFF"/>
                </a:solidFill>
                <a:latin typeface="Aptos"/>
                <a:ea typeface="Aptos"/>
                <a:cs typeface="Aptos"/>
              </a:defRPr>
            </a:lvl5pPr>
            <a:lvl6pPr>
              <a:defRPr sz="1300">
                <a:solidFill>
                  <a:srgbClr val="DEEEFF"/>
                </a:solidFill>
                <a:latin typeface="Aptos"/>
                <a:ea typeface="Aptos"/>
                <a:cs typeface="Aptos"/>
              </a:defRPr>
            </a:lvl6pPr>
            <a:lvl7pPr>
              <a:defRPr sz="1300">
                <a:solidFill>
                  <a:srgbClr val="DEEEFF"/>
                </a:solidFill>
                <a:latin typeface="Aptos"/>
                <a:ea typeface="Aptos"/>
                <a:cs typeface="Aptos"/>
              </a:defRPr>
            </a:lvl7pPr>
            <a:lvl8pPr>
              <a:defRPr sz="1300">
                <a:solidFill>
                  <a:srgbClr val="DEEEFF"/>
                </a:solidFill>
                <a:latin typeface="Aptos"/>
                <a:ea typeface="Aptos"/>
                <a:cs typeface="Aptos"/>
              </a:defRPr>
            </a:lvl8pPr>
            <a:lvl9pPr>
              <a:defRPr sz="1300">
                <a:solidFill>
                  <a:srgbClr val="DEEEFF"/>
                </a:solidFill>
                <a:latin typeface="Aptos"/>
                <a:ea typeface="Aptos"/>
                <a:cs typeface="Aptos"/>
              </a:defRPr>
            </a:lvl9pPr>
          </a:lstStyle>
          <a:p xmlns:a="http://schemas.openxmlformats.org/drawingml/2006/main">
            <a:pPr algn="l">
              <a:spcAft>
                <a:spcPts val="400"/>
              </a:spcAft>
              <a:buNone/>
              <a:defRPr sz="1300">
                <a:solidFill>
                  <a:srgbClr val="DEEEFF"/>
                </a:solidFill>
                <a:latin typeface="Aptos"/>
                <a:ea typeface="Aptos"/>
                <a:cs typeface="Aptos"/>
              </a:defRPr>
            </a:pPr>
            <a:r>
              <a:rPr sz="1300" b="0" i="0">
                <a:solidFill>
                  <a:srgbClr val="DEEEFF"/>
                </a:solidFill>
                <a:latin typeface="Aptos"/>
                <a:ea typeface="Aptos"/>
                <a:cs typeface="Aptos"/>
              </a:rPr>
              <a:t>The prototype does not measure panic or authenticate the sender.</a:t>
            </a:r>
          </a:p>
        </p:txBody>
      </p:sp>
    </p:spTree>
    <p:extLst>
      <p:ext uri="{BB962C8B-B14F-4D97-AF65-F5344CB8AC3E}">
        <p14:creationId xmlns:p14="http://schemas.microsoft.com/office/powerpoint/2010/main" val="549527613"/>
      </p:ext>
    </p:extLst>
  </p:cSld>
</p:sld>
</file>

<file path=ppt/slides/slide6.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90BAE01-065E-4B2E-912E-7C4612CE19F6}"/>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78CB022-A54D-4F72-AFD6-F2E9B3B2143B}"/>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05  /  DIGITAL COGNITIVE FIREWALL</a:t>
            </a:r>
          </a:p>
        </p:txBody>
      </p:sp>
      <p:sp>
        <p:nvSpPr>
          <p:cNvPr id="4" name="TextBox 3">
            <a:extLst xmlns:a="http://schemas.openxmlformats.org/drawingml/2006/main">
              <a:ext uri="{FF2B5EF4-FFF2-40B4-BE49-F238E27FC236}">
                <a16:creationId xmlns:a16="http://schemas.microsoft.com/office/drawing/2014/main" id="{D8A1B187-AE7D-4B6F-9F70-D2D31DA4A393}"/>
              </a:ext>
            </a:extLst>
          </p:cNvPr>
          <p:cNvSpPr>
            <a:spLocks xmlns:a="http://schemas.openxmlformats.org/drawingml/2006/main" noGrp="1"/>
          </p:cNvSpPr>
          <p:nvPr/>
        </p:nvSpPr>
        <p:spPr>
          <a:xfrm xmlns:a="http://schemas.openxmlformats.org/drawingml/2006/main">
            <a:off x="566928" y="749808"/>
            <a:ext cx="10881360" cy="5943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Proposed Solution</a:t>
            </a:r>
          </a:p>
        </p:txBody>
      </p:sp>
      <p:sp>
        <p:nvSpPr>
          <p:cNvPr id="5" name="Rectangle 4">
            <a:extLst xmlns:a="http://schemas.openxmlformats.org/drawingml/2006/main">
              <a:ext uri="{FF2B5EF4-FFF2-40B4-BE49-F238E27FC236}">
                <a16:creationId xmlns:a16="http://schemas.microsoft.com/office/drawing/2014/main" id="{97A55D2C-01C4-498C-A3EC-0720D15DA4F7}"/>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B1C2ACE-9EBC-4135-9425-6754E65CF051}"/>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06</a:t>
            </a:r>
          </a:p>
        </p:txBody>
      </p:sp>
      <p:sp>
        <p:nvSpPr>
          <p:cNvPr id="7" name="TextBox 6">
            <a:extLst xmlns:a="http://schemas.openxmlformats.org/drawingml/2006/main">
              <a:ext uri="{FF2B5EF4-FFF2-40B4-BE49-F238E27FC236}">
                <a16:creationId xmlns:a16="http://schemas.microsoft.com/office/drawing/2014/main" id="{3A6AB043-90CF-4D50-A84D-0D15F78D2D93}"/>
              </a:ext>
            </a:extLst>
          </p:cNvPr>
          <p:cNvSpPr>
            <a:spLocks xmlns:a="http://schemas.openxmlformats.org/drawingml/2006/main" noGrp="1"/>
          </p:cNvSpPr>
          <p:nvPr/>
        </p:nvSpPr>
        <p:spPr>
          <a:xfrm xmlns:a="http://schemas.openxmlformats.org/drawingml/2006/main">
            <a:off x="749808" y="1691640"/>
            <a:ext cx="10607040" cy="3901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200" b="1" i="0">
                <a:solidFill>
                  <a:srgbClr val="DEEEFF"/>
                </a:solidFill>
                <a:latin typeface="Aptos"/>
                <a:ea typeface="Aptos"/>
                <a:cs typeface="Aptos"/>
              </a:rPr>
              <a:t>A local rule demonstrator makes its observations inspectable.</a:t>
            </a:r>
          </a:p>
        </p:txBody>
      </p:sp>
      <p:sp>
        <p:nvSpPr>
          <p:cNvPr id="8" name="Rounded Rectangle 7">
            <a:extLst xmlns:a="http://schemas.openxmlformats.org/drawingml/2006/main">
              <a:ext uri="{FF2B5EF4-FFF2-40B4-BE49-F238E27FC236}">
                <a16:creationId xmlns:a16="http://schemas.microsoft.com/office/drawing/2014/main" id="{DA449D39-7F95-4041-8506-E82753E142E3}"/>
              </a:ext>
            </a:extLst>
          </p:cNvPr>
          <p:cNvSpPr>
            <a:spLocks xmlns:a="http://schemas.openxmlformats.org/drawingml/2006/main" noGrp="1"/>
          </p:cNvSpPr>
          <p:nvPr/>
        </p:nvSpPr>
        <p:spPr>
          <a:xfrm xmlns:a="http://schemas.openxmlformats.org/drawingml/2006/main">
            <a:off x="777240" y="2514600"/>
            <a:ext cx="5074920" cy="1115568"/>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23341829-4808-4370-A741-7561FB700B66}"/>
              </a:ext>
            </a:extLst>
          </p:cNvPr>
          <p:cNvSpPr>
            <a:spLocks xmlns:a="http://schemas.openxmlformats.org/drawingml/2006/main" noGrp="1"/>
          </p:cNvSpPr>
          <p:nvPr/>
        </p:nvSpPr>
        <p:spPr>
          <a:xfrm xmlns:a="http://schemas.openxmlformats.org/drawingml/2006/main">
            <a:off x="777240" y="2651760"/>
            <a:ext cx="50292" cy="841247"/>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231400-55FB-49EA-8134-8E7EC4BE6A22}"/>
              </a:ext>
            </a:extLst>
          </p:cNvPr>
          <p:cNvSpPr>
            <a:spLocks xmlns:a="http://schemas.openxmlformats.org/drawingml/2006/main" noGrp="1"/>
          </p:cNvSpPr>
          <p:nvPr/>
        </p:nvSpPr>
        <p:spPr>
          <a:xfrm xmlns:a="http://schemas.openxmlformats.org/drawingml/2006/main">
            <a:off x="978408" y="2679192"/>
            <a:ext cx="4690872"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600" b="1" i="0">
                <a:solidFill>
                  <a:srgbClr val="FAFCFF"/>
                </a:solidFill>
                <a:latin typeface="Aptos"/>
                <a:ea typeface="Aptos"/>
                <a:cs typeface="Aptos"/>
              </a:rPr>
              <a:t>01  Language observations</a:t>
            </a:r>
          </a:p>
        </p:txBody>
      </p:sp>
      <p:sp>
        <p:nvSpPr>
          <p:cNvPr id="11" name="TextBox 10">
            <a:extLst xmlns:a="http://schemas.openxmlformats.org/drawingml/2006/main">
              <a:ext uri="{FF2B5EF4-FFF2-40B4-BE49-F238E27FC236}">
                <a16:creationId xmlns:a16="http://schemas.microsoft.com/office/drawing/2014/main" id="{5A4343BF-3AA0-4D5B-BF3F-672F3B308536}"/>
              </a:ext>
            </a:extLst>
          </p:cNvPr>
          <p:cNvSpPr>
            <a:spLocks xmlns:a="http://schemas.openxmlformats.org/drawingml/2006/main" noGrp="1"/>
          </p:cNvSpPr>
          <p:nvPr/>
        </p:nvSpPr>
        <p:spPr>
          <a:xfrm xmlns:a="http://schemas.openxmlformats.org/drawingml/2006/main">
            <a:off x="978408" y="3172968"/>
            <a:ext cx="4690872"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0" i="0">
                <a:solidFill>
                  <a:srgbClr val="DEEEFF"/>
                </a:solidFill>
                <a:latin typeface="Aptos"/>
                <a:ea typeface="Aptos"/>
                <a:cs typeface="Aptos"/>
              </a:rPr>
              <a:t>Pressure, threats and secret requests</a:t>
            </a:r>
          </a:p>
        </p:txBody>
      </p:sp>
      <p:sp>
        <p:nvSpPr>
          <p:cNvPr id="12" name="Rounded Rectangle 11">
            <a:extLst xmlns:a="http://schemas.openxmlformats.org/drawingml/2006/main">
              <a:ext uri="{FF2B5EF4-FFF2-40B4-BE49-F238E27FC236}">
                <a16:creationId xmlns:a16="http://schemas.microsoft.com/office/drawing/2014/main" id="{CD58B987-D3A6-4985-9F1D-9F6A83E8122A}"/>
              </a:ext>
            </a:extLst>
          </p:cNvPr>
          <p:cNvSpPr>
            <a:spLocks xmlns:a="http://schemas.openxmlformats.org/drawingml/2006/main" noGrp="1"/>
          </p:cNvSpPr>
          <p:nvPr/>
        </p:nvSpPr>
        <p:spPr>
          <a:xfrm xmlns:a="http://schemas.openxmlformats.org/drawingml/2006/main">
            <a:off x="6309359" y="2514600"/>
            <a:ext cx="5074920" cy="1115568"/>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03EA85EA-3153-40D6-8163-9F735BE3E845}"/>
              </a:ext>
            </a:extLst>
          </p:cNvPr>
          <p:cNvSpPr>
            <a:spLocks xmlns:a="http://schemas.openxmlformats.org/drawingml/2006/main" noGrp="1"/>
          </p:cNvSpPr>
          <p:nvPr/>
        </p:nvSpPr>
        <p:spPr>
          <a:xfrm xmlns:a="http://schemas.openxmlformats.org/drawingml/2006/main">
            <a:off x="6309359" y="2651760"/>
            <a:ext cx="50292" cy="841247"/>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68CE237-95AE-4764-ACB4-095C80863556}"/>
              </a:ext>
            </a:extLst>
          </p:cNvPr>
          <p:cNvSpPr>
            <a:spLocks xmlns:a="http://schemas.openxmlformats.org/drawingml/2006/main" noGrp="1"/>
          </p:cNvSpPr>
          <p:nvPr/>
        </p:nvSpPr>
        <p:spPr>
          <a:xfrm xmlns:a="http://schemas.openxmlformats.org/drawingml/2006/main">
            <a:off x="6510527" y="2679192"/>
            <a:ext cx="4690872"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600" b="1" i="0">
                <a:solidFill>
                  <a:srgbClr val="FAFCFF"/>
                </a:solidFill>
                <a:latin typeface="Aptos"/>
                <a:ea typeface="Aptos"/>
                <a:cs typeface="Aptos"/>
              </a:rPr>
              <a:t>02  Domain context</a:t>
            </a:r>
          </a:p>
        </p:txBody>
      </p:sp>
      <p:sp>
        <p:nvSpPr>
          <p:cNvPr id="15" name="TextBox 14">
            <a:extLst xmlns:a="http://schemas.openxmlformats.org/drawingml/2006/main">
              <a:ext uri="{FF2B5EF4-FFF2-40B4-BE49-F238E27FC236}">
                <a16:creationId xmlns:a16="http://schemas.microsoft.com/office/drawing/2014/main" id="{41D1DB15-5529-4BE9-9989-ABC8978EF8C6}"/>
              </a:ext>
            </a:extLst>
          </p:cNvPr>
          <p:cNvSpPr>
            <a:spLocks xmlns:a="http://schemas.openxmlformats.org/drawingml/2006/main" noGrp="1"/>
          </p:cNvSpPr>
          <p:nvPr/>
        </p:nvSpPr>
        <p:spPr>
          <a:xfrm xmlns:a="http://schemas.openxmlformats.org/drawingml/2006/main">
            <a:off x="6510527" y="3172968"/>
            <a:ext cx="4690872"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0" i="0">
                <a:solidFill>
                  <a:srgbClr val="DEEEFF"/>
                </a:solidFill>
                <a:latin typeface="Aptos"/>
                <a:ea typeface="Aptos"/>
                <a:cs typeface="Aptos"/>
              </a:rPr>
              <a:t>User-supplied expected domain</a:t>
            </a:r>
          </a:p>
        </p:txBody>
      </p:sp>
      <p:sp>
        <p:nvSpPr>
          <p:cNvPr id="16" name="Rounded Rectangle 15">
            <a:extLst xmlns:a="http://schemas.openxmlformats.org/drawingml/2006/main">
              <a:ext uri="{FF2B5EF4-FFF2-40B4-BE49-F238E27FC236}">
                <a16:creationId xmlns:a16="http://schemas.microsoft.com/office/drawing/2014/main" id="{D9BFDD01-8281-4BFB-BC51-BB482263B5E3}"/>
              </a:ext>
            </a:extLst>
          </p:cNvPr>
          <p:cNvSpPr>
            <a:spLocks xmlns:a="http://schemas.openxmlformats.org/drawingml/2006/main" noGrp="1"/>
          </p:cNvSpPr>
          <p:nvPr/>
        </p:nvSpPr>
        <p:spPr>
          <a:xfrm xmlns:a="http://schemas.openxmlformats.org/drawingml/2006/main">
            <a:off x="777240" y="3931920"/>
            <a:ext cx="5074920" cy="1115568"/>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22E9B26E-8F24-451B-82F6-B290B5733D69}"/>
              </a:ext>
            </a:extLst>
          </p:cNvPr>
          <p:cNvSpPr>
            <a:spLocks xmlns:a="http://schemas.openxmlformats.org/drawingml/2006/main" noGrp="1"/>
          </p:cNvSpPr>
          <p:nvPr/>
        </p:nvSpPr>
        <p:spPr>
          <a:xfrm xmlns:a="http://schemas.openxmlformats.org/drawingml/2006/main">
            <a:off x="777240" y="4069080"/>
            <a:ext cx="50292" cy="841247"/>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0EB9C90C-51D8-4764-9A1D-55EB01B28FF3}"/>
              </a:ext>
            </a:extLst>
          </p:cNvPr>
          <p:cNvSpPr>
            <a:spLocks xmlns:a="http://schemas.openxmlformats.org/drawingml/2006/main" noGrp="1"/>
          </p:cNvSpPr>
          <p:nvPr/>
        </p:nvSpPr>
        <p:spPr>
          <a:xfrm xmlns:a="http://schemas.openxmlformats.org/drawingml/2006/main">
            <a:off x="978408" y="4096511"/>
            <a:ext cx="4690872"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600" b="1" i="0">
                <a:solidFill>
                  <a:srgbClr val="FAFCFF"/>
                </a:solidFill>
                <a:latin typeface="Aptos"/>
                <a:ea typeface="Aptos"/>
                <a:cs typeface="Aptos"/>
              </a:rPr>
              <a:t>03  Explanations</a:t>
            </a:r>
          </a:p>
        </p:txBody>
      </p:sp>
      <p:sp>
        <p:nvSpPr>
          <p:cNvPr id="19" name="TextBox 18">
            <a:extLst xmlns:a="http://schemas.openxmlformats.org/drawingml/2006/main">
              <a:ext uri="{FF2B5EF4-FFF2-40B4-BE49-F238E27FC236}">
                <a16:creationId xmlns:a16="http://schemas.microsoft.com/office/drawing/2014/main" id="{BE0B537F-A0CA-4511-932E-B017FE15E4E8}"/>
              </a:ext>
            </a:extLst>
          </p:cNvPr>
          <p:cNvSpPr>
            <a:spLocks xmlns:a="http://schemas.openxmlformats.org/drawingml/2006/main" noGrp="1"/>
          </p:cNvSpPr>
          <p:nvPr/>
        </p:nvSpPr>
        <p:spPr>
          <a:xfrm xmlns:a="http://schemas.openxmlformats.org/drawingml/2006/main">
            <a:off x="978408" y="4590288"/>
            <a:ext cx="4690872"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0" i="0">
                <a:solidFill>
                  <a:srgbClr val="DEEEFF"/>
                </a:solidFill>
                <a:latin typeface="Aptos"/>
                <a:ea typeface="Aptos"/>
                <a:cs typeface="Aptos"/>
              </a:rPr>
              <a:t>Matched phrases and URL observations</a:t>
            </a:r>
          </a:p>
        </p:txBody>
      </p:sp>
      <p:sp>
        <p:nvSpPr>
          <p:cNvPr id="20" name="Rounded Rectangle 19">
            <a:extLst xmlns:a="http://schemas.openxmlformats.org/drawingml/2006/main">
              <a:ext uri="{FF2B5EF4-FFF2-40B4-BE49-F238E27FC236}">
                <a16:creationId xmlns:a16="http://schemas.microsoft.com/office/drawing/2014/main" id="{E6C1B651-CF84-47CB-A743-D8C92B7B5804}"/>
              </a:ext>
            </a:extLst>
          </p:cNvPr>
          <p:cNvSpPr>
            <a:spLocks xmlns:a="http://schemas.openxmlformats.org/drawingml/2006/main" noGrp="1"/>
          </p:cNvSpPr>
          <p:nvPr/>
        </p:nvSpPr>
        <p:spPr>
          <a:xfrm xmlns:a="http://schemas.openxmlformats.org/drawingml/2006/main">
            <a:off x="6309359" y="3931920"/>
            <a:ext cx="5074920" cy="1115568"/>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49EC774E-BC79-459D-AFAE-6852E0FCCD7F}"/>
              </a:ext>
            </a:extLst>
          </p:cNvPr>
          <p:cNvSpPr>
            <a:spLocks xmlns:a="http://schemas.openxmlformats.org/drawingml/2006/main" noGrp="1"/>
          </p:cNvSpPr>
          <p:nvPr/>
        </p:nvSpPr>
        <p:spPr>
          <a:xfrm xmlns:a="http://schemas.openxmlformats.org/drawingml/2006/main">
            <a:off x="6309359" y="4069080"/>
            <a:ext cx="50292" cy="841247"/>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7B7F4F33-8B35-4984-8062-799A45EB45CF}"/>
              </a:ext>
            </a:extLst>
          </p:cNvPr>
          <p:cNvSpPr>
            <a:spLocks xmlns:a="http://schemas.openxmlformats.org/drawingml/2006/main" noGrp="1"/>
          </p:cNvSpPr>
          <p:nvPr/>
        </p:nvSpPr>
        <p:spPr>
          <a:xfrm xmlns:a="http://schemas.openxmlformats.org/drawingml/2006/main">
            <a:off x="6510527" y="4096511"/>
            <a:ext cx="4690872"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600" b="1" i="0">
                <a:solidFill>
                  <a:srgbClr val="FAFCFF"/>
                </a:solidFill>
                <a:latin typeface="Aptos"/>
                <a:ea typeface="Aptos"/>
                <a:cs typeface="Aptos"/>
              </a:rPr>
              <a:t>04  Verification prompt</a:t>
            </a:r>
          </a:p>
        </p:txBody>
      </p:sp>
      <p:sp>
        <p:nvSpPr>
          <p:cNvPr id="23" name="TextBox 22">
            <a:extLst xmlns:a="http://schemas.openxmlformats.org/drawingml/2006/main">
              <a:ext uri="{FF2B5EF4-FFF2-40B4-BE49-F238E27FC236}">
                <a16:creationId xmlns:a16="http://schemas.microsoft.com/office/drawing/2014/main" id="{32E040B8-7F55-41DF-B0B1-EFADB78E6923}"/>
              </a:ext>
            </a:extLst>
          </p:cNvPr>
          <p:cNvSpPr>
            <a:spLocks xmlns:a="http://schemas.openxmlformats.org/drawingml/2006/main" noGrp="1"/>
          </p:cNvSpPr>
          <p:nvPr/>
        </p:nvSpPr>
        <p:spPr>
          <a:xfrm xmlns:a="http://schemas.openxmlformats.org/drawingml/2006/main">
            <a:off x="6510527" y="4590288"/>
            <a:ext cx="4690872"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0" i="0">
                <a:solidFill>
                  <a:srgbClr val="DEEEFF"/>
                </a:solidFill>
                <a:latin typeface="Aptos"/>
                <a:ea typeface="Aptos"/>
                <a:cs typeface="Aptos"/>
              </a:rPr>
              <a:t>Categorical review, with limitations</a:t>
            </a:r>
          </a:p>
        </p:txBody>
      </p:sp>
      <p:sp>
        <p:nvSpPr>
          <p:cNvPr id="24" name="TextBox 23">
            <a:extLst xmlns:a="http://schemas.openxmlformats.org/drawingml/2006/main">
              <a:ext uri="{FF2B5EF4-FFF2-40B4-BE49-F238E27FC236}">
                <a16:creationId xmlns:a16="http://schemas.microsoft.com/office/drawing/2014/main" id="{5FDDC702-F831-41C0-B65A-54EA591AEBBD}"/>
              </a:ext>
            </a:extLst>
          </p:cNvPr>
          <p:cNvSpPr>
            <a:spLocks xmlns:a="http://schemas.openxmlformats.org/drawingml/2006/main" noGrp="1"/>
          </p:cNvSpPr>
          <p:nvPr/>
        </p:nvSpPr>
        <p:spPr>
          <a:xfrm xmlns:a="http://schemas.openxmlformats.org/drawingml/2006/main">
            <a:off x="822960" y="5715000"/>
            <a:ext cx="10515600"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700" b="1" i="0">
                <a:solidFill>
                  <a:srgbClr val="2ADAF5"/>
                </a:solidFill>
                <a:latin typeface="Aptos"/>
                <a:ea typeface="Aptos"/>
                <a:cs typeface="Aptos"/>
              </a:rPr>
              <a:t>No trained AI, emotion sensing or calibrated risk probability.</a:t>
            </a:r>
          </a:p>
        </p:txBody>
      </p:sp>
    </p:spTree>
    <p:extLst>
      <p:ext uri="{BB962C8B-B14F-4D97-AF65-F5344CB8AC3E}">
        <p14:creationId xmlns:p14="http://schemas.microsoft.com/office/powerpoint/2010/main" val="2015019370"/>
      </p:ext>
    </p:extLst>
  </p:cSld>
</p:sld>
</file>

<file path=ppt/slides/slide7.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1527750-EFCF-4E0D-B633-0EA4A9729352}"/>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B8C6D75-7FF0-423C-A9A5-4BA97FB68DE5}"/>
              </a:ext>
            </a:extLst>
          </p:cNvPr>
          <p:cNvSpPr>
            <a:spLocks xmlns:a="http://schemas.openxmlformats.org/drawingml/2006/main" noGrp="1"/>
          </p:cNvSpPr>
          <p:nvPr/>
        </p:nvSpPr>
        <p:spPr>
          <a:xfrm xmlns:a="http://schemas.openxmlformats.org/drawingml/2006/main">
            <a:off x="566928" y="384048"/>
            <a:ext cx="9875520" cy="2072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06 / CURRENT DEMONSTRATOR</a:t>
            </a:r>
          </a:p>
        </p:txBody>
      </p:sp>
      <p:sp>
        <p:nvSpPr>
          <p:cNvPr id="4" name="TextBox 3">
            <a:extLst xmlns:a="http://schemas.openxmlformats.org/drawingml/2006/main">
              <a:ext uri="{FF2B5EF4-FFF2-40B4-BE49-F238E27FC236}">
                <a16:creationId xmlns:a16="http://schemas.microsoft.com/office/drawing/2014/main" id="{FE2D23D9-6AD9-4678-9F2D-781FC1A13C4D}"/>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Current Message Review Workflow</a:t>
            </a:r>
          </a:p>
        </p:txBody>
      </p:sp>
      <p:sp>
        <p:nvSpPr>
          <p:cNvPr id="5" name="Rectangle 4">
            <a:extLst xmlns:a="http://schemas.openxmlformats.org/drawingml/2006/main">
              <a:ext uri="{FF2B5EF4-FFF2-40B4-BE49-F238E27FC236}">
                <a16:creationId xmlns:a16="http://schemas.microsoft.com/office/drawing/2014/main" id="{BEDA2823-F621-45F2-9F7E-60C8DF70D6E6}"/>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DC33CBA-736E-42F5-B0DF-82A697706A60}"/>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07</a:t>
            </a:r>
          </a:p>
        </p:txBody>
      </p:sp>
      <p:sp>
        <p:nvSpPr>
          <p:cNvPr id="7" name="Rounded Rectangle 6">
            <a:extLst xmlns:a="http://schemas.openxmlformats.org/drawingml/2006/main">
              <a:ext uri="{FF2B5EF4-FFF2-40B4-BE49-F238E27FC236}">
                <a16:creationId xmlns:a16="http://schemas.microsoft.com/office/drawing/2014/main" id="{0D88E560-3E7B-4015-95EA-BF560D12BE34}"/>
              </a:ext>
            </a:extLst>
          </p:cNvPr>
          <p:cNvSpPr>
            <a:spLocks xmlns:a="http://schemas.openxmlformats.org/drawingml/2006/main" noGrp="1"/>
          </p:cNvSpPr>
          <p:nvPr/>
        </p:nvSpPr>
        <p:spPr>
          <a:xfrm xmlns:a="http://schemas.openxmlformats.org/drawingml/2006/main">
            <a:off x="2057400" y="17373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267B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FF63562-AF50-41EF-B867-46C1391F559B}"/>
              </a:ext>
            </a:extLst>
          </p:cNvPr>
          <p:cNvSpPr>
            <a:spLocks xmlns:a="http://schemas.openxmlformats.org/drawingml/2006/main" noGrp="1"/>
          </p:cNvSpPr>
          <p:nvPr/>
        </p:nvSpPr>
        <p:spPr>
          <a:xfrm xmlns:a="http://schemas.openxmlformats.org/drawingml/2006/main">
            <a:off x="2304288" y="1819656"/>
            <a:ext cx="18288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267BFF"/>
                </a:solidFill>
                <a:latin typeface="Aptos"/>
                <a:ea typeface="Aptos"/>
                <a:cs typeface="Aptos"/>
              </a:rPr>
              <a:t>INPUT</a:t>
            </a:r>
          </a:p>
        </p:txBody>
      </p:sp>
      <p:sp>
        <p:nvSpPr>
          <p:cNvPr id="9" name="TextBox 8">
            <a:extLst xmlns:a="http://schemas.openxmlformats.org/drawingml/2006/main">
              <a:ext uri="{FF2B5EF4-FFF2-40B4-BE49-F238E27FC236}">
                <a16:creationId xmlns:a16="http://schemas.microsoft.com/office/drawing/2014/main" id="{0DBDF0F4-4749-49C7-B5BF-CF2A125511DD}"/>
              </a:ext>
            </a:extLst>
          </p:cNvPr>
          <p:cNvSpPr>
            <a:spLocks xmlns:a="http://schemas.openxmlformats.org/drawingml/2006/main" noGrp="1"/>
          </p:cNvSpPr>
          <p:nvPr/>
        </p:nvSpPr>
        <p:spPr>
          <a:xfrm xmlns:a="http://schemas.openxmlformats.org/drawingml/2006/main">
            <a:off x="4160520" y="18105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Pasted text and optional sender/domain context</a:t>
            </a:r>
          </a:p>
        </p:txBody>
      </p:sp>
      <p:sp>
        <p:nvSpPr>
          <p:cNvPr id="10" name="Connector 9">
            <a:extLst xmlns:a="http://schemas.openxmlformats.org/drawingml/2006/main">
              <a:ext uri="{FF2B5EF4-FFF2-40B4-BE49-F238E27FC236}">
                <a16:creationId xmlns:a16="http://schemas.microsoft.com/office/drawing/2014/main" id="{4E5DAC01-03EC-48C3-A966-31D13FE9B0A0}"/>
              </a:ext>
            </a:extLst>
          </p:cNvPr>
          <p:cNvSpPr>
            <a:spLocks xmlns:a="http://schemas.openxmlformats.org/drawingml/2006/main" noGrp="1"/>
          </p:cNvSpPr>
          <p:nvPr/>
        </p:nvSpPr>
        <p:spPr>
          <a:xfrm xmlns:a="http://schemas.openxmlformats.org/drawingml/2006/main">
            <a:off x="6080760" y="2240280"/>
            <a:ext cx="0" cy="164592"/>
          </a:xfrm>
          <a:prstGeom xmlns:a="http://schemas.openxmlformats.org/drawingml/2006/main" prst="line">
            <a:avLst/>
          </a:prstGeom>
          <a:ln xmlns:a="http://schemas.openxmlformats.org/drawingml/2006/main" w="19050">
            <a:solidFill>
              <a:srgbClr val="2ADAF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Rounded Rectangle 10">
            <a:extLst xmlns:a="http://schemas.openxmlformats.org/drawingml/2006/main">
              <a:ext uri="{FF2B5EF4-FFF2-40B4-BE49-F238E27FC236}">
                <a16:creationId xmlns:a16="http://schemas.microsoft.com/office/drawing/2014/main" id="{C6027989-B765-42CC-B255-0D3B8A8F1EA9}"/>
              </a:ext>
            </a:extLst>
          </p:cNvPr>
          <p:cNvSpPr>
            <a:spLocks xmlns:a="http://schemas.openxmlformats.org/drawingml/2006/main" noGrp="1"/>
          </p:cNvSpPr>
          <p:nvPr/>
        </p:nvSpPr>
        <p:spPr>
          <a:xfrm xmlns:a="http://schemas.openxmlformats.org/drawingml/2006/main">
            <a:off x="2057400" y="24231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267B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A13DD6E-634A-48D7-91FE-AB543D455900}"/>
              </a:ext>
            </a:extLst>
          </p:cNvPr>
          <p:cNvSpPr>
            <a:spLocks xmlns:a="http://schemas.openxmlformats.org/drawingml/2006/main" noGrp="1"/>
          </p:cNvSpPr>
          <p:nvPr/>
        </p:nvSpPr>
        <p:spPr>
          <a:xfrm xmlns:a="http://schemas.openxmlformats.org/drawingml/2006/main">
            <a:off x="2304288" y="2505456"/>
            <a:ext cx="18288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267BFF"/>
                </a:solidFill>
                <a:latin typeface="Aptos"/>
                <a:ea typeface="Aptos"/>
                <a:cs typeface="Aptos"/>
              </a:rPr>
              <a:t>ANALYZE</a:t>
            </a:r>
          </a:p>
        </p:txBody>
      </p:sp>
      <p:sp>
        <p:nvSpPr>
          <p:cNvPr id="13" name="TextBox 12">
            <a:extLst xmlns:a="http://schemas.openxmlformats.org/drawingml/2006/main">
              <a:ext uri="{FF2B5EF4-FFF2-40B4-BE49-F238E27FC236}">
                <a16:creationId xmlns:a16="http://schemas.microsoft.com/office/drawing/2014/main" id="{E649AF8A-6818-4117-9201-3BFE2E8F08E2}"/>
              </a:ext>
            </a:extLst>
          </p:cNvPr>
          <p:cNvSpPr>
            <a:spLocks xmlns:a="http://schemas.openxmlformats.org/drawingml/2006/main" noGrp="1"/>
          </p:cNvSpPr>
          <p:nvPr/>
        </p:nvSpPr>
        <p:spPr>
          <a:xfrm xmlns:a="http://schemas.openxmlformats.org/drawingml/2006/main">
            <a:off x="4160520" y="24963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Length checks and Unicode normalization</a:t>
            </a:r>
          </a:p>
        </p:txBody>
      </p:sp>
      <p:sp>
        <p:nvSpPr>
          <p:cNvPr id="14" name="Connector 13">
            <a:extLst xmlns:a="http://schemas.openxmlformats.org/drawingml/2006/main">
              <a:ext uri="{FF2B5EF4-FFF2-40B4-BE49-F238E27FC236}">
                <a16:creationId xmlns:a16="http://schemas.microsoft.com/office/drawing/2014/main" id="{A7B083B9-0DD0-45CC-AB89-F15AFA706F44}"/>
              </a:ext>
            </a:extLst>
          </p:cNvPr>
          <p:cNvSpPr>
            <a:spLocks xmlns:a="http://schemas.openxmlformats.org/drawingml/2006/main" noGrp="1"/>
          </p:cNvSpPr>
          <p:nvPr/>
        </p:nvSpPr>
        <p:spPr>
          <a:xfrm xmlns:a="http://schemas.openxmlformats.org/drawingml/2006/main">
            <a:off x="6080760" y="2926080"/>
            <a:ext cx="0" cy="164592"/>
          </a:xfrm>
          <a:prstGeom xmlns:a="http://schemas.openxmlformats.org/drawingml/2006/main" prst="line">
            <a:avLst/>
          </a:prstGeom>
          <a:ln xmlns:a="http://schemas.openxmlformats.org/drawingml/2006/main" w="19050">
            <a:solidFill>
              <a:srgbClr val="2ADAF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Rounded Rectangle 14">
            <a:extLst xmlns:a="http://schemas.openxmlformats.org/drawingml/2006/main">
              <a:ext uri="{FF2B5EF4-FFF2-40B4-BE49-F238E27FC236}">
                <a16:creationId xmlns:a16="http://schemas.microsoft.com/office/drawing/2014/main" id="{692EC456-80D5-4F54-BF53-EF428C053D7A}"/>
              </a:ext>
            </a:extLst>
          </p:cNvPr>
          <p:cNvSpPr>
            <a:spLocks xmlns:a="http://schemas.openxmlformats.org/drawingml/2006/main" noGrp="1"/>
          </p:cNvSpPr>
          <p:nvPr/>
        </p:nvSpPr>
        <p:spPr>
          <a:xfrm xmlns:a="http://schemas.openxmlformats.org/drawingml/2006/main">
            <a:off x="2057400" y="31089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2ADA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7AF6A8B-3EEA-436B-BFF5-96813561B69C}"/>
              </a:ext>
            </a:extLst>
          </p:cNvPr>
          <p:cNvSpPr>
            <a:spLocks xmlns:a="http://schemas.openxmlformats.org/drawingml/2006/main" noGrp="1"/>
          </p:cNvSpPr>
          <p:nvPr/>
        </p:nvSpPr>
        <p:spPr>
          <a:xfrm xmlns:a="http://schemas.openxmlformats.org/drawingml/2006/main">
            <a:off x="2304288" y="3191256"/>
            <a:ext cx="1828800"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2ADAF5"/>
                </a:solidFill>
                <a:latin typeface="Aptos"/>
                <a:ea typeface="Aptos"/>
                <a:cs typeface="Aptos"/>
              </a:rPr>
              <a:t>OBSERVE</a:t>
            </a:r>
          </a:p>
        </p:txBody>
      </p:sp>
      <p:sp>
        <p:nvSpPr>
          <p:cNvPr id="17" name="TextBox 16">
            <a:extLst xmlns:a="http://schemas.openxmlformats.org/drawingml/2006/main">
              <a:ext uri="{FF2B5EF4-FFF2-40B4-BE49-F238E27FC236}">
                <a16:creationId xmlns:a16="http://schemas.microsoft.com/office/drawing/2014/main" id="{183ABAE5-23BA-477C-B9EE-075A745B391E}"/>
              </a:ext>
            </a:extLst>
          </p:cNvPr>
          <p:cNvSpPr>
            <a:spLocks xmlns:a="http://schemas.openxmlformats.org/drawingml/2006/main" noGrp="1"/>
          </p:cNvSpPr>
          <p:nvPr/>
        </p:nvSpPr>
        <p:spPr>
          <a:xfrm xmlns:a="http://schemas.openxmlformats.org/drawingml/2006/main">
            <a:off x="4160520" y="31821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Language cues and URL host structure</a:t>
            </a:r>
          </a:p>
        </p:txBody>
      </p:sp>
      <p:sp>
        <p:nvSpPr>
          <p:cNvPr id="18" name="Connector 17">
            <a:extLst xmlns:a="http://schemas.openxmlformats.org/drawingml/2006/main">
              <a:ext uri="{FF2B5EF4-FFF2-40B4-BE49-F238E27FC236}">
                <a16:creationId xmlns:a16="http://schemas.microsoft.com/office/drawing/2014/main" id="{E629AE41-F2BE-4CEA-9067-C67028DA4E35}"/>
              </a:ext>
            </a:extLst>
          </p:cNvPr>
          <p:cNvSpPr>
            <a:spLocks xmlns:a="http://schemas.openxmlformats.org/drawingml/2006/main" noGrp="1"/>
          </p:cNvSpPr>
          <p:nvPr/>
        </p:nvSpPr>
        <p:spPr>
          <a:xfrm xmlns:a="http://schemas.openxmlformats.org/drawingml/2006/main">
            <a:off x="6080760" y="3611880"/>
            <a:ext cx="0" cy="164592"/>
          </a:xfrm>
          <a:prstGeom xmlns:a="http://schemas.openxmlformats.org/drawingml/2006/main" prst="line">
            <a:avLst/>
          </a:prstGeom>
          <a:ln xmlns:a="http://schemas.openxmlformats.org/drawingml/2006/main" w="19050">
            <a:solidFill>
              <a:srgbClr val="2ADAF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Rounded Rectangle 18">
            <a:extLst xmlns:a="http://schemas.openxmlformats.org/drawingml/2006/main">
              <a:ext uri="{FF2B5EF4-FFF2-40B4-BE49-F238E27FC236}">
                <a16:creationId xmlns:a16="http://schemas.microsoft.com/office/drawing/2014/main" id="{17952630-DFD4-4F27-A423-FA7BFD29AE8C}"/>
              </a:ext>
            </a:extLst>
          </p:cNvPr>
          <p:cNvSpPr>
            <a:spLocks xmlns:a="http://schemas.openxmlformats.org/drawingml/2006/main" noGrp="1"/>
          </p:cNvSpPr>
          <p:nvPr/>
        </p:nvSpPr>
        <p:spPr>
          <a:xfrm xmlns:a="http://schemas.openxmlformats.org/drawingml/2006/main">
            <a:off x="2057400" y="37947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2ADA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68977230-C61B-4C22-8DCA-3A1BAC4E6233}"/>
              </a:ext>
            </a:extLst>
          </p:cNvPr>
          <p:cNvSpPr>
            <a:spLocks xmlns:a="http://schemas.openxmlformats.org/drawingml/2006/main" noGrp="1"/>
          </p:cNvSpPr>
          <p:nvPr/>
        </p:nvSpPr>
        <p:spPr>
          <a:xfrm xmlns:a="http://schemas.openxmlformats.org/drawingml/2006/main">
            <a:off x="2304288" y="3877056"/>
            <a:ext cx="1828800"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2ADAF5"/>
                </a:solidFill>
                <a:latin typeface="Aptos"/>
                <a:ea typeface="Aptos"/>
                <a:cs typeface="Aptos"/>
              </a:rPr>
              <a:t>REVIEW</a:t>
            </a:r>
          </a:p>
        </p:txBody>
      </p:sp>
      <p:sp>
        <p:nvSpPr>
          <p:cNvPr id="21" name="TextBox 20">
            <a:extLst xmlns:a="http://schemas.openxmlformats.org/drawingml/2006/main">
              <a:ext uri="{FF2B5EF4-FFF2-40B4-BE49-F238E27FC236}">
                <a16:creationId xmlns:a16="http://schemas.microsoft.com/office/drawing/2014/main" id="{53AA3B8D-B1A4-4572-B9DF-90C4B6AB2FB5}"/>
              </a:ext>
            </a:extLst>
          </p:cNvPr>
          <p:cNvSpPr>
            <a:spLocks xmlns:a="http://schemas.openxmlformats.org/drawingml/2006/main" noGrp="1"/>
          </p:cNvSpPr>
          <p:nvPr/>
        </p:nvSpPr>
        <p:spPr>
          <a:xfrm xmlns:a="http://schemas.openxmlformats.org/drawingml/2006/main">
            <a:off x="4160520" y="38679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Disclosed categorical rule policy</a:t>
            </a:r>
          </a:p>
        </p:txBody>
      </p:sp>
      <p:sp>
        <p:nvSpPr>
          <p:cNvPr id="22" name="Connector 21">
            <a:extLst xmlns:a="http://schemas.openxmlformats.org/drawingml/2006/main">
              <a:ext uri="{FF2B5EF4-FFF2-40B4-BE49-F238E27FC236}">
                <a16:creationId xmlns:a16="http://schemas.microsoft.com/office/drawing/2014/main" id="{37E575F4-33CF-40D3-BB2A-B193CE366EB5}"/>
              </a:ext>
            </a:extLst>
          </p:cNvPr>
          <p:cNvSpPr>
            <a:spLocks xmlns:a="http://schemas.openxmlformats.org/drawingml/2006/main" noGrp="1"/>
          </p:cNvSpPr>
          <p:nvPr/>
        </p:nvSpPr>
        <p:spPr>
          <a:xfrm xmlns:a="http://schemas.openxmlformats.org/drawingml/2006/main">
            <a:off x="6080760" y="4297680"/>
            <a:ext cx="0" cy="164592"/>
          </a:xfrm>
          <a:prstGeom xmlns:a="http://schemas.openxmlformats.org/drawingml/2006/main" prst="line">
            <a:avLst/>
          </a:prstGeom>
          <a:ln xmlns:a="http://schemas.openxmlformats.org/drawingml/2006/main" w="19050">
            <a:solidFill>
              <a:srgbClr val="2ADAF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Rounded Rectangle 22">
            <a:extLst xmlns:a="http://schemas.openxmlformats.org/drawingml/2006/main">
              <a:ext uri="{FF2B5EF4-FFF2-40B4-BE49-F238E27FC236}">
                <a16:creationId xmlns:a16="http://schemas.microsoft.com/office/drawing/2014/main" id="{93FB6D6E-D844-4D87-A535-321C9EA16FE9}"/>
              </a:ext>
            </a:extLst>
          </p:cNvPr>
          <p:cNvSpPr>
            <a:spLocks xmlns:a="http://schemas.openxmlformats.org/drawingml/2006/main" noGrp="1"/>
          </p:cNvSpPr>
          <p:nvPr/>
        </p:nvSpPr>
        <p:spPr>
          <a:xfrm xmlns:a="http://schemas.openxmlformats.org/drawingml/2006/main">
            <a:off x="2057400" y="44805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FF59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60522814-31F2-4D87-982E-6B606DDC60D8}"/>
              </a:ext>
            </a:extLst>
          </p:cNvPr>
          <p:cNvSpPr>
            <a:spLocks xmlns:a="http://schemas.openxmlformats.org/drawingml/2006/main" noGrp="1"/>
          </p:cNvSpPr>
          <p:nvPr/>
        </p:nvSpPr>
        <p:spPr>
          <a:xfrm xmlns:a="http://schemas.openxmlformats.org/drawingml/2006/main">
            <a:off x="2304288" y="4562856"/>
            <a:ext cx="18288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FF5970"/>
                </a:solidFill>
                <a:latin typeface="Aptos"/>
                <a:ea typeface="Aptos"/>
                <a:cs typeface="Aptos"/>
              </a:rPr>
              <a:t>INTERVENE</a:t>
            </a:r>
          </a:p>
        </p:txBody>
      </p:sp>
      <p:sp>
        <p:nvSpPr>
          <p:cNvPr id="25" name="TextBox 24">
            <a:extLst xmlns:a="http://schemas.openxmlformats.org/drawingml/2006/main">
              <a:ext uri="{FF2B5EF4-FFF2-40B4-BE49-F238E27FC236}">
                <a16:creationId xmlns:a16="http://schemas.microsoft.com/office/drawing/2014/main" id="{86771A65-8C0E-470A-A557-F7173EAD0BAD}"/>
              </a:ext>
            </a:extLst>
          </p:cNvPr>
          <p:cNvSpPr>
            <a:spLocks xmlns:a="http://schemas.openxmlformats.org/drawingml/2006/main" noGrp="1"/>
          </p:cNvSpPr>
          <p:nvPr/>
        </p:nvSpPr>
        <p:spPr>
          <a:xfrm xmlns:a="http://schemas.openxmlformats.org/drawingml/2006/main">
            <a:off x="4160520" y="45537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Explanation and verification checklist</a:t>
            </a:r>
          </a:p>
        </p:txBody>
      </p:sp>
      <p:sp>
        <p:nvSpPr>
          <p:cNvPr id="26" name="Connector 25">
            <a:extLst xmlns:a="http://schemas.openxmlformats.org/drawingml/2006/main">
              <a:ext uri="{FF2B5EF4-FFF2-40B4-BE49-F238E27FC236}">
                <a16:creationId xmlns:a16="http://schemas.microsoft.com/office/drawing/2014/main" id="{9FC103CC-6E1F-4033-B06D-1A26820257C5}"/>
              </a:ext>
            </a:extLst>
          </p:cNvPr>
          <p:cNvSpPr>
            <a:spLocks xmlns:a="http://schemas.openxmlformats.org/drawingml/2006/main" noGrp="1"/>
          </p:cNvSpPr>
          <p:nvPr/>
        </p:nvSpPr>
        <p:spPr>
          <a:xfrm xmlns:a="http://schemas.openxmlformats.org/drawingml/2006/main">
            <a:off x="6080760" y="4983480"/>
            <a:ext cx="0" cy="164592"/>
          </a:xfrm>
          <a:prstGeom xmlns:a="http://schemas.openxmlformats.org/drawingml/2006/main" prst="line">
            <a:avLst/>
          </a:prstGeom>
          <a:ln xmlns:a="http://schemas.openxmlformats.org/drawingml/2006/main" w="19050">
            <a:solidFill>
              <a:srgbClr val="2ADAF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Rounded Rectangle 26">
            <a:extLst xmlns:a="http://schemas.openxmlformats.org/drawingml/2006/main">
              <a:ext uri="{FF2B5EF4-FFF2-40B4-BE49-F238E27FC236}">
                <a16:creationId xmlns:a16="http://schemas.microsoft.com/office/drawing/2014/main" id="{CE77C0FF-A39E-4D86-B11B-A6D5B8D61507}"/>
              </a:ext>
            </a:extLst>
          </p:cNvPr>
          <p:cNvSpPr>
            <a:spLocks xmlns:a="http://schemas.openxmlformats.org/drawingml/2006/main" noGrp="1"/>
          </p:cNvSpPr>
          <p:nvPr/>
        </p:nvSpPr>
        <p:spPr>
          <a:xfrm xmlns:a="http://schemas.openxmlformats.org/drawingml/2006/main">
            <a:off x="2057400" y="5166360"/>
            <a:ext cx="8046720" cy="502920"/>
          </a:xfrm>
          <a:prstGeom xmlns:a="http://schemas.openxmlformats.org/drawingml/2006/main" prst="roundRect">
            <a:avLst/>
          </a:prstGeom>
          <a:solidFill xmlns:a="http://schemas.openxmlformats.org/drawingml/2006/main">
            <a:srgbClr val="0F2348"/>
          </a:solidFill>
          <a:ln xmlns:a="http://schemas.openxmlformats.org/drawingml/2006/main" w="15240">
            <a:solidFill>
              <a:srgbClr val="267B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B57F512A-E5BA-4846-858B-011587F7952F}"/>
              </a:ext>
            </a:extLst>
          </p:cNvPr>
          <p:cNvSpPr>
            <a:spLocks xmlns:a="http://schemas.openxmlformats.org/drawingml/2006/main" noGrp="1"/>
          </p:cNvSpPr>
          <p:nvPr/>
        </p:nvSpPr>
        <p:spPr>
          <a:xfrm xmlns:a="http://schemas.openxmlformats.org/drawingml/2006/main">
            <a:off x="2304288" y="5248656"/>
            <a:ext cx="1828800"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300" b="1" i="0">
                <a:solidFill>
                  <a:srgbClr val="267BFF"/>
                </a:solidFill>
                <a:latin typeface="Aptos"/>
                <a:ea typeface="Aptos"/>
                <a:cs typeface="Aptos"/>
              </a:rPr>
              <a:t>VERIFY</a:t>
            </a:r>
          </a:p>
        </p:txBody>
      </p:sp>
      <p:sp>
        <p:nvSpPr>
          <p:cNvPr id="29" name="TextBox 28">
            <a:extLst xmlns:a="http://schemas.openxmlformats.org/drawingml/2006/main">
              <a:ext uri="{FF2B5EF4-FFF2-40B4-BE49-F238E27FC236}">
                <a16:creationId xmlns:a16="http://schemas.microsoft.com/office/drawing/2014/main" id="{C53434BF-A945-4E60-96A6-EFABAC40928A}"/>
              </a:ext>
            </a:extLst>
          </p:cNvPr>
          <p:cNvSpPr>
            <a:spLocks xmlns:a="http://schemas.openxmlformats.org/drawingml/2006/main" noGrp="1"/>
          </p:cNvSpPr>
          <p:nvPr/>
        </p:nvSpPr>
        <p:spPr>
          <a:xfrm xmlns:a="http://schemas.openxmlformats.org/drawingml/2006/main">
            <a:off x="4160520" y="5239512"/>
            <a:ext cx="548640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500" b="0" i="0">
                <a:solidFill>
                  <a:srgbClr val="FAFCFF"/>
                </a:solidFill>
                <a:latin typeface="Aptos"/>
                <a:ea typeface="Aptos"/>
                <a:cs typeface="Aptos"/>
              </a:rPr>
              <a:t>Use a known channel and institutional procedure</a:t>
            </a:r>
          </a:p>
        </p:txBody>
      </p:sp>
    </p:spTree>
    <p:extLst>
      <p:ext uri="{BB962C8B-B14F-4D97-AF65-F5344CB8AC3E}">
        <p14:creationId xmlns:p14="http://schemas.microsoft.com/office/powerpoint/2010/main" val="241674157"/>
      </p:ext>
    </p:extLst>
  </p:cSld>
</p:sld>
</file>

<file path=ppt/slides/slide8.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71FC423-969D-48CE-A442-256EDA77F8C1}"/>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7C2ED0B-2DE2-40AE-8811-BBEE50DE21ED}"/>
              </a:ext>
            </a:extLst>
          </p:cNvPr>
          <p:cNvSpPr>
            <a:spLocks xmlns:a="http://schemas.openxmlformats.org/drawingml/2006/main" noGrp="1"/>
          </p:cNvSpPr>
          <p:nvPr/>
        </p:nvSpPr>
        <p:spPr>
          <a:xfrm xmlns:a="http://schemas.openxmlformats.org/drawingml/2006/main">
            <a:off x="566928" y="384048"/>
            <a:ext cx="987552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07  /  CONTRIBUTION</a:t>
            </a:r>
          </a:p>
        </p:txBody>
      </p:sp>
      <p:sp>
        <p:nvSpPr>
          <p:cNvPr id="4" name="TextBox 3">
            <a:extLst xmlns:a="http://schemas.openxmlformats.org/drawingml/2006/main">
              <a:ext uri="{FF2B5EF4-FFF2-40B4-BE49-F238E27FC236}">
                <a16:creationId xmlns:a16="http://schemas.microsoft.com/office/drawing/2014/main" id="{261705E7-C929-4189-BAA5-73B8EDD19C50}"/>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Prior Work and Candidate Contribution</a:t>
            </a:r>
          </a:p>
        </p:txBody>
      </p:sp>
      <p:sp>
        <p:nvSpPr>
          <p:cNvPr id="5" name="Rectangle 4">
            <a:extLst xmlns:a="http://schemas.openxmlformats.org/drawingml/2006/main">
              <a:ext uri="{FF2B5EF4-FFF2-40B4-BE49-F238E27FC236}">
                <a16:creationId xmlns:a16="http://schemas.microsoft.com/office/drawing/2014/main" id="{ADE61D2B-05B2-433A-AEAE-7882817151C4}"/>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8A8A05F-9272-463C-966F-B1A319C95CB2}"/>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08</a:t>
            </a:r>
          </a:p>
        </p:txBody>
      </p:sp>
      <p:sp>
        <p:nvSpPr>
          <p:cNvPr id="7" name="Rounded Rectangle 6">
            <a:extLst xmlns:a="http://schemas.openxmlformats.org/drawingml/2006/main">
              <a:ext uri="{FF2B5EF4-FFF2-40B4-BE49-F238E27FC236}">
                <a16:creationId xmlns:a16="http://schemas.microsoft.com/office/drawing/2014/main" id="{CC0821ED-59AD-4FD5-9578-8247EBC119CC}"/>
              </a:ext>
            </a:extLst>
          </p:cNvPr>
          <p:cNvSpPr>
            <a:spLocks xmlns:a="http://schemas.openxmlformats.org/drawingml/2006/main" noGrp="1"/>
          </p:cNvSpPr>
          <p:nvPr/>
        </p:nvSpPr>
        <p:spPr>
          <a:xfrm xmlns:a="http://schemas.openxmlformats.org/drawingml/2006/main">
            <a:off x="777240" y="1828800"/>
            <a:ext cx="4983480" cy="333756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FE2C79AB-CCEA-4EF3-BDB3-A57489D65B3D}"/>
              </a:ext>
            </a:extLst>
          </p:cNvPr>
          <p:cNvSpPr>
            <a:spLocks xmlns:a="http://schemas.openxmlformats.org/drawingml/2006/main" noGrp="1"/>
          </p:cNvSpPr>
          <p:nvPr/>
        </p:nvSpPr>
        <p:spPr>
          <a:xfrm xmlns:a="http://schemas.openxmlformats.org/drawingml/2006/main">
            <a:off x="777240" y="1965960"/>
            <a:ext cx="50292" cy="3063240"/>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29C741C-9BE2-4AAF-838F-B63F2C2253EA}"/>
              </a:ext>
            </a:extLst>
          </p:cNvPr>
          <p:cNvSpPr>
            <a:spLocks xmlns:a="http://schemas.openxmlformats.org/drawingml/2006/main" noGrp="1"/>
          </p:cNvSpPr>
          <p:nvPr/>
        </p:nvSpPr>
        <p:spPr>
          <a:xfrm xmlns:a="http://schemas.openxmlformats.org/drawingml/2006/main">
            <a:off x="978408" y="1993392"/>
            <a:ext cx="459943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Established precedents</a:t>
            </a:r>
          </a:p>
        </p:txBody>
      </p:sp>
      <p:sp>
        <p:nvSpPr>
          <p:cNvPr id="10" name="TextBox 9">
            <a:extLst xmlns:a="http://schemas.openxmlformats.org/drawingml/2006/main">
              <a:ext uri="{FF2B5EF4-FFF2-40B4-BE49-F238E27FC236}">
                <a16:creationId xmlns:a16="http://schemas.microsoft.com/office/drawing/2014/main" id="{05494528-7C98-46A2-B87C-95734F8C9B9C}"/>
              </a:ext>
            </a:extLst>
          </p:cNvPr>
          <p:cNvSpPr>
            <a:spLocks xmlns:a="http://schemas.openxmlformats.org/drawingml/2006/main" noGrp="1"/>
          </p:cNvSpPr>
          <p:nvPr/>
        </p:nvSpPr>
        <p:spPr>
          <a:xfrm xmlns:a="http://schemas.openxmlformats.org/drawingml/2006/main">
            <a:off x="960120" y="2487168"/>
            <a:ext cx="4636008" cy="12969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600">
                <a:solidFill>
                  <a:srgbClr val="DEEEFF"/>
                </a:solidFill>
                <a:latin typeface="Aptos"/>
                <a:ea typeface="Aptos"/>
                <a:cs typeface="Aptos"/>
              </a:defRPr>
            </a:pPr>
            <a:r>
              <a:t>NIST Phish Scale: cues and context</a:t>
            </a:r>
          </a:p>
          <a:p xmlns:a="http://schemas.openxmlformats.org/drawingml/2006/main">
            <a:pPr>
              <a:spcAft>
                <a:spcPts val="700"/>
              </a:spcAft>
              <a:buNone/>
              <a:defRPr sz="1600">
                <a:solidFill>
                  <a:srgbClr val="DEEEFF"/>
                </a:solidFill>
                <a:latin typeface="Aptos"/>
                <a:ea typeface="Aptos"/>
                <a:cs typeface="Aptos"/>
              </a:defRPr>
            </a:pPr>
            <a:r>
              <a:t>PhishXplain: contextual warnings</a:t>
            </a:r>
          </a:p>
          <a:p xmlns:a="http://schemas.openxmlformats.org/drawingml/2006/main">
            <a:pPr>
              <a:spcAft>
                <a:spcPts val="700"/>
              </a:spcAft>
              <a:buNone/>
              <a:defRPr sz="1600">
                <a:solidFill>
                  <a:srgbClr val="DEEEFF"/>
                </a:solidFill>
                <a:latin typeface="Aptos"/>
                <a:ea typeface="Aptos"/>
                <a:cs typeface="Aptos"/>
              </a:defRPr>
            </a:pPr>
            <a:r>
              <a:t>Warning habituation research</a:t>
            </a:r>
          </a:p>
          <a:p xmlns:a="http://schemas.openxmlformats.org/drawingml/2006/main">
            <a:pPr>
              <a:spcAft>
                <a:spcPts val="700"/>
              </a:spcAft>
              <a:buNone/>
              <a:defRPr sz="1600">
                <a:solidFill>
                  <a:srgbClr val="DEEEFF"/>
                </a:solidFill>
                <a:latin typeface="Aptos"/>
                <a:ea typeface="Aptos"/>
                <a:cs typeface="Aptos"/>
              </a:defRPr>
            </a:pPr>
            <a:r>
              <a:t>No general novelty claim</a:t>
            </a:r>
          </a:p>
        </p:txBody>
      </p:sp>
      <p:sp>
        <p:nvSpPr>
          <p:cNvPr id="11" name="Rounded Rectangle 10">
            <a:extLst xmlns:a="http://schemas.openxmlformats.org/drawingml/2006/main">
              <a:ext uri="{FF2B5EF4-FFF2-40B4-BE49-F238E27FC236}">
                <a16:creationId xmlns:a16="http://schemas.microsoft.com/office/drawing/2014/main" id="{DAFF99B6-1E53-40F7-833A-2A59DCE63183}"/>
              </a:ext>
            </a:extLst>
          </p:cNvPr>
          <p:cNvSpPr>
            <a:spLocks xmlns:a="http://schemas.openxmlformats.org/drawingml/2006/main" noGrp="1"/>
          </p:cNvSpPr>
          <p:nvPr/>
        </p:nvSpPr>
        <p:spPr>
          <a:xfrm xmlns:a="http://schemas.openxmlformats.org/drawingml/2006/main">
            <a:off x="6400800" y="1828800"/>
            <a:ext cx="4983480" cy="333756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D3CBB95A-BDBB-438F-B114-E6C99E5347B4}"/>
              </a:ext>
            </a:extLst>
          </p:cNvPr>
          <p:cNvSpPr>
            <a:spLocks xmlns:a="http://schemas.openxmlformats.org/drawingml/2006/main" noGrp="1"/>
          </p:cNvSpPr>
          <p:nvPr/>
        </p:nvSpPr>
        <p:spPr>
          <a:xfrm xmlns:a="http://schemas.openxmlformats.org/drawingml/2006/main">
            <a:off x="6400800" y="1965960"/>
            <a:ext cx="50292" cy="306324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44A96BC6-BAD0-4C1F-94F7-5E65DE327437}"/>
              </a:ext>
            </a:extLst>
          </p:cNvPr>
          <p:cNvSpPr>
            <a:spLocks xmlns:a="http://schemas.openxmlformats.org/drawingml/2006/main" noGrp="1"/>
          </p:cNvSpPr>
          <p:nvPr/>
        </p:nvSpPr>
        <p:spPr>
          <a:xfrm xmlns:a="http://schemas.openxmlformats.org/drawingml/2006/main">
            <a:off x="6601968" y="1993392"/>
            <a:ext cx="459943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Candidate direction</a:t>
            </a:r>
          </a:p>
        </p:txBody>
      </p:sp>
      <p:sp>
        <p:nvSpPr>
          <p:cNvPr id="14" name="TextBox 13">
            <a:extLst xmlns:a="http://schemas.openxmlformats.org/drawingml/2006/main">
              <a:ext uri="{FF2B5EF4-FFF2-40B4-BE49-F238E27FC236}">
                <a16:creationId xmlns:a16="http://schemas.microsoft.com/office/drawing/2014/main" id="{BE68C9D8-2ED7-4A11-9EF5-4C1631722695}"/>
              </a:ext>
            </a:extLst>
          </p:cNvPr>
          <p:cNvSpPr>
            <a:spLocks xmlns:a="http://schemas.openxmlformats.org/drawingml/2006/main" noGrp="1"/>
          </p:cNvSpPr>
          <p:nvPr/>
        </p:nvSpPr>
        <p:spPr>
          <a:xfrm xmlns:a="http://schemas.openxmlformats.org/drawingml/2006/main">
            <a:off x="6583680" y="2487168"/>
            <a:ext cx="4636008" cy="129692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600">
                <a:solidFill>
                  <a:srgbClr val="DEEEFF"/>
                </a:solidFill>
                <a:latin typeface="Aptos"/>
                <a:ea typeface="Aptos"/>
                <a:cs typeface="Aptos"/>
              </a:defRPr>
            </a:pPr>
            <a:r>
              <a:t>Inspectable local workflow</a:t>
            </a:r>
          </a:p>
          <a:p xmlns:a="http://schemas.openxmlformats.org/drawingml/2006/main">
            <a:pPr>
              <a:spcAft>
                <a:spcPts val="700"/>
              </a:spcAft>
              <a:buNone/>
              <a:defRPr sz="1600">
                <a:solidFill>
                  <a:srgbClr val="DEEEFF"/>
                </a:solidFill>
                <a:latin typeface="Aptos"/>
                <a:ea typeface="Aptos"/>
                <a:cs typeface="Aptos"/>
              </a:defRPr>
            </a:pPr>
            <a:r>
              <a:t>English and limited Urdu rules</a:t>
            </a:r>
          </a:p>
          <a:p xmlns:a="http://schemas.openxmlformats.org/drawingml/2006/main">
            <a:pPr>
              <a:spcAft>
                <a:spcPts val="700"/>
              </a:spcAft>
              <a:buNone/>
              <a:defRPr sz="1600">
                <a:solidFill>
                  <a:srgbClr val="DEEEFF"/>
                </a:solidFill>
                <a:latin typeface="Aptos"/>
                <a:ea typeface="Aptos"/>
                <a:cs typeface="Aptos"/>
              </a:defRPr>
            </a:pPr>
            <a:r>
              <a:t>Explanations with explicit limits</a:t>
            </a:r>
          </a:p>
          <a:p xmlns:a="http://schemas.openxmlformats.org/drawingml/2006/main">
            <a:pPr>
              <a:spcAft>
                <a:spcPts val="700"/>
              </a:spcAft>
              <a:buNone/>
              <a:defRPr sz="1600">
                <a:solidFill>
                  <a:srgbClr val="DEEEFF"/>
                </a:solidFill>
                <a:latin typeface="Aptos"/>
                <a:ea typeface="Aptos"/>
                <a:cs typeface="Aptos"/>
              </a:defRPr>
            </a:pPr>
            <a:r>
              <a:t>Comparative validation still needed</a:t>
            </a:r>
          </a:p>
        </p:txBody>
      </p:sp>
      <p:sp>
        <p:nvSpPr>
          <p:cNvPr id="15" name="TextBox 14">
            <a:extLst xmlns:a="http://schemas.openxmlformats.org/drawingml/2006/main">
              <a:ext uri="{FF2B5EF4-FFF2-40B4-BE49-F238E27FC236}">
                <a16:creationId xmlns:a16="http://schemas.microsoft.com/office/drawing/2014/main" id="{DE96BDAC-6E11-4CA6-A203-0F914F92646F}"/>
              </a:ext>
            </a:extLst>
          </p:cNvPr>
          <p:cNvSpPr>
            <a:spLocks xmlns:a="http://schemas.openxmlformats.org/drawingml/2006/main" noGrp="1"/>
          </p:cNvSpPr>
          <p:nvPr/>
        </p:nvSpPr>
        <p:spPr>
          <a:xfrm xmlns:a="http://schemas.openxmlformats.org/drawingml/2006/main">
            <a:off x="822960" y="5623560"/>
            <a:ext cx="1069848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algn="ctr">
              <a:spcAft>
                <a:spcPts val="400"/>
              </a:spcAft>
              <a:buNone/>
            </a:pPr>
            <a:r>
              <a:rPr sz="1500" b="1" i="0">
                <a:solidFill>
                  <a:srgbClr val="DEEEFF"/>
                </a:solidFill>
                <a:latin typeface="Aptos"/>
                <a:ea typeface="Aptos"/>
                <a:cs typeface="Aptos"/>
              </a:rPr>
              <a:t>Combining cybersecurity, psychology and AI alone does not establish novelty.</a:t>
            </a:r>
          </a:p>
        </p:txBody>
      </p:sp>
    </p:spTree>
    <p:extLst>
      <p:ext uri="{BB962C8B-B14F-4D97-AF65-F5344CB8AC3E}">
        <p14:creationId xmlns:p14="http://schemas.microsoft.com/office/powerpoint/2010/main" val="1891098380"/>
      </p:ext>
    </p:extLst>
  </p:cSld>
</p:sld>
</file>

<file path=ppt/slides/slide9.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FC2A876-99CA-44A1-B2E4-38E39AF751B7}"/>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179E76D-A8D1-491F-AF4E-1AC90DB81B61}"/>
              </a:ext>
            </a:extLst>
          </p:cNvPr>
          <p:cNvSpPr>
            <a:spLocks xmlns:a="http://schemas.openxmlformats.org/drawingml/2006/main" noGrp="1"/>
          </p:cNvSpPr>
          <p:nvPr/>
        </p:nvSpPr>
        <p:spPr>
          <a:xfrm xmlns:a="http://schemas.openxmlformats.org/drawingml/2006/main">
            <a:off x="566928" y="384048"/>
            <a:ext cx="9875520" cy="2072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08 / RULE DEMONSTRATION</a:t>
            </a:r>
          </a:p>
        </p:txBody>
      </p:sp>
      <p:sp>
        <p:nvSpPr>
          <p:cNvPr id="4" name="TextBox 3">
            <a:extLst xmlns:a="http://schemas.openxmlformats.org/drawingml/2006/main">
              <a:ext uri="{FF2B5EF4-FFF2-40B4-BE49-F238E27FC236}">
                <a16:creationId xmlns:a16="http://schemas.microsoft.com/office/drawing/2014/main" id="{080B4DF7-C0F7-4B38-826A-BB7B4F1F92E6}"/>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Demonstrator Output and Evidence Limits</a:t>
            </a:r>
          </a:p>
        </p:txBody>
      </p:sp>
      <p:sp>
        <p:nvSpPr>
          <p:cNvPr id="5" name="Rectangle 4">
            <a:extLst xmlns:a="http://schemas.openxmlformats.org/drawingml/2006/main">
              <a:ext uri="{FF2B5EF4-FFF2-40B4-BE49-F238E27FC236}">
                <a16:creationId xmlns:a16="http://schemas.microsoft.com/office/drawing/2014/main" id="{73A544B3-37C9-469A-AEA5-A38130AE000D}"/>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DD872AD-F835-4854-A435-9BFEA9CDC705}"/>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09</a:t>
            </a:r>
          </a:p>
        </p:txBody>
      </p:sp>
      <p:sp>
        <p:nvSpPr>
          <p:cNvPr id="7" name="Rounded Rectangle 6">
            <a:extLst xmlns:a="http://schemas.openxmlformats.org/drawingml/2006/main">
              <a:ext uri="{FF2B5EF4-FFF2-40B4-BE49-F238E27FC236}">
                <a16:creationId xmlns:a16="http://schemas.microsoft.com/office/drawing/2014/main" id="{A65E675B-F1D5-4042-86F6-CC637CBBE2E8}"/>
              </a:ext>
            </a:extLst>
          </p:cNvPr>
          <p:cNvSpPr>
            <a:spLocks xmlns:a="http://schemas.openxmlformats.org/drawingml/2006/main" noGrp="1"/>
          </p:cNvSpPr>
          <p:nvPr/>
        </p:nvSpPr>
        <p:spPr>
          <a:xfrm xmlns:a="http://schemas.openxmlformats.org/drawingml/2006/main">
            <a:off x="749808" y="1828800"/>
            <a:ext cx="3337560" cy="265176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C36304CA-CB1B-4ECD-843B-6737B0A15697}"/>
              </a:ext>
            </a:extLst>
          </p:cNvPr>
          <p:cNvSpPr>
            <a:spLocks xmlns:a="http://schemas.openxmlformats.org/drawingml/2006/main" noGrp="1"/>
          </p:cNvSpPr>
          <p:nvPr/>
        </p:nvSpPr>
        <p:spPr>
          <a:xfrm xmlns:a="http://schemas.openxmlformats.org/drawingml/2006/main">
            <a:off x="749808" y="1965960"/>
            <a:ext cx="50292" cy="2377440"/>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2AC7E58-3BA6-4F77-8617-0C47C7BBCD50}"/>
              </a:ext>
            </a:extLst>
          </p:cNvPr>
          <p:cNvSpPr>
            <a:spLocks xmlns:a="http://schemas.openxmlformats.org/drawingml/2006/main" noGrp="1"/>
          </p:cNvSpPr>
          <p:nvPr/>
        </p:nvSpPr>
        <p:spPr>
          <a:xfrm xmlns:a="http://schemas.openxmlformats.org/drawingml/2006/main">
            <a:off x="950976" y="1993392"/>
            <a:ext cx="295351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INPUT</a:t>
            </a:r>
          </a:p>
        </p:txBody>
      </p:sp>
      <p:sp>
        <p:nvSpPr>
          <p:cNvPr id="10" name="TextBox 9">
            <a:extLst xmlns:a="http://schemas.openxmlformats.org/drawingml/2006/main">
              <a:ext uri="{FF2B5EF4-FFF2-40B4-BE49-F238E27FC236}">
                <a16:creationId xmlns:a16="http://schemas.microsoft.com/office/drawing/2014/main" id="{39E6D0CE-79CE-4EE1-9E27-C8E610C4A8C7}"/>
              </a:ext>
            </a:extLst>
          </p:cNvPr>
          <p:cNvSpPr>
            <a:spLocks xmlns:a="http://schemas.openxmlformats.org/drawingml/2006/main" noGrp="1"/>
          </p:cNvSpPr>
          <p:nvPr/>
        </p:nvSpPr>
        <p:spPr>
          <a:xfrm xmlns:a="http://schemas.openxmlformats.org/drawingml/2006/main">
            <a:off x="1024128" y="2606040"/>
            <a:ext cx="2743200" cy="11430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“URGENT! Your account will be blocked in 30 seconds. Click here immediately.”</a:t>
            </a:r>
          </a:p>
        </p:txBody>
      </p:sp>
      <p:sp>
        <p:nvSpPr>
          <p:cNvPr id="11" name="Rounded Rectangle 10">
            <a:extLst xmlns:a="http://schemas.openxmlformats.org/drawingml/2006/main">
              <a:ext uri="{FF2B5EF4-FFF2-40B4-BE49-F238E27FC236}">
                <a16:creationId xmlns:a16="http://schemas.microsoft.com/office/drawing/2014/main" id="{A23B6C18-E31C-4FE8-B495-245BC095DA25}"/>
              </a:ext>
            </a:extLst>
          </p:cNvPr>
          <p:cNvSpPr>
            <a:spLocks xmlns:a="http://schemas.openxmlformats.org/drawingml/2006/main" noGrp="1"/>
          </p:cNvSpPr>
          <p:nvPr/>
        </p:nvSpPr>
        <p:spPr>
          <a:xfrm xmlns:a="http://schemas.openxmlformats.org/drawingml/2006/main">
            <a:off x="4434840" y="1828800"/>
            <a:ext cx="3337560" cy="265176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BDC0C731-0CE7-478C-8DFC-C4822675823B}"/>
              </a:ext>
            </a:extLst>
          </p:cNvPr>
          <p:cNvSpPr>
            <a:spLocks xmlns:a="http://schemas.openxmlformats.org/drawingml/2006/main" noGrp="1"/>
          </p:cNvSpPr>
          <p:nvPr/>
        </p:nvSpPr>
        <p:spPr>
          <a:xfrm xmlns:a="http://schemas.openxmlformats.org/drawingml/2006/main">
            <a:off x="4434840" y="1965960"/>
            <a:ext cx="50292" cy="237744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CD121FF-495E-4C71-BD3B-C481155278E9}"/>
              </a:ext>
            </a:extLst>
          </p:cNvPr>
          <p:cNvSpPr>
            <a:spLocks xmlns:a="http://schemas.openxmlformats.org/drawingml/2006/main" noGrp="1"/>
          </p:cNvSpPr>
          <p:nvPr/>
        </p:nvSpPr>
        <p:spPr>
          <a:xfrm xmlns:a="http://schemas.openxmlformats.org/drawingml/2006/main">
            <a:off x="4636007" y="1993392"/>
            <a:ext cx="2953512" cy="3139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VISIBLE CUES</a:t>
            </a:r>
          </a:p>
        </p:txBody>
      </p:sp>
      <p:sp>
        <p:nvSpPr>
          <p:cNvPr id="14" name="TextBox 13">
            <a:extLst xmlns:a="http://schemas.openxmlformats.org/drawingml/2006/main">
              <a:ext uri="{FF2B5EF4-FFF2-40B4-BE49-F238E27FC236}">
                <a16:creationId xmlns:a16="http://schemas.microsoft.com/office/drawing/2014/main" id="{19A0D35C-9415-45DA-82E9-728A326391D7}"/>
              </a:ext>
            </a:extLst>
          </p:cNvPr>
          <p:cNvSpPr>
            <a:spLocks xmlns:a="http://schemas.openxmlformats.org/drawingml/2006/main" noGrp="1"/>
          </p:cNvSpPr>
          <p:nvPr/>
        </p:nvSpPr>
        <p:spPr>
          <a:xfrm xmlns:a="http://schemas.openxmlformats.org/drawingml/2006/main">
            <a:off x="4617720" y="2487168"/>
            <a:ext cx="2990088" cy="91846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500">
                <a:solidFill>
                  <a:srgbClr val="DEEEFF"/>
                </a:solidFill>
                <a:latin typeface="Aptos"/>
                <a:ea typeface="Aptos"/>
                <a:cs typeface="Aptos"/>
              </a:defRPr>
            </a:pPr>
            <a:r>
              <a:t>Time pressure</a:t>
            </a:r>
          </a:p>
          <a:p xmlns:a="http://schemas.openxmlformats.org/drawingml/2006/main">
            <a:pPr>
              <a:spcAft>
                <a:spcPts val="700"/>
              </a:spcAft>
              <a:buNone/>
              <a:defRPr sz="1500">
                <a:solidFill>
                  <a:srgbClr val="DEEEFF"/>
                </a:solidFill>
                <a:latin typeface="Aptos"/>
                <a:ea typeface="Aptos"/>
                <a:cs typeface="Aptos"/>
              </a:defRPr>
            </a:pPr>
            <a:r>
              <a:t>Threat of account loss</a:t>
            </a:r>
          </a:p>
          <a:p xmlns:a="http://schemas.openxmlformats.org/drawingml/2006/main">
            <a:pPr>
              <a:spcAft>
                <a:spcPts val="700"/>
              </a:spcAft>
              <a:buNone/>
              <a:defRPr sz="1500">
                <a:solidFill>
                  <a:srgbClr val="DEEEFF"/>
                </a:solidFill>
                <a:latin typeface="Aptos"/>
                <a:ea typeface="Aptos"/>
                <a:cs typeface="Aptos"/>
              </a:defRPr>
            </a:pPr>
            <a:r>
              <a:t>Request to act immediately</a:t>
            </a:r>
          </a:p>
        </p:txBody>
      </p:sp>
      <p:sp>
        <p:nvSpPr>
          <p:cNvPr id="15" name="Rounded Rectangle 14">
            <a:extLst xmlns:a="http://schemas.openxmlformats.org/drawingml/2006/main">
              <a:ext uri="{FF2B5EF4-FFF2-40B4-BE49-F238E27FC236}">
                <a16:creationId xmlns:a16="http://schemas.microsoft.com/office/drawing/2014/main" id="{5C98724E-E709-4920-90E8-6E4237655B96}"/>
              </a:ext>
            </a:extLst>
          </p:cNvPr>
          <p:cNvSpPr>
            <a:spLocks xmlns:a="http://schemas.openxmlformats.org/drawingml/2006/main" noGrp="1"/>
          </p:cNvSpPr>
          <p:nvPr/>
        </p:nvSpPr>
        <p:spPr>
          <a:xfrm xmlns:a="http://schemas.openxmlformats.org/drawingml/2006/main">
            <a:off x="8138160" y="1828800"/>
            <a:ext cx="3337560" cy="265176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AC5B3E85-7D20-4B52-897E-F87A11C25CBC}"/>
              </a:ext>
            </a:extLst>
          </p:cNvPr>
          <p:cNvSpPr>
            <a:spLocks xmlns:a="http://schemas.openxmlformats.org/drawingml/2006/main" noGrp="1"/>
          </p:cNvSpPr>
          <p:nvPr/>
        </p:nvSpPr>
        <p:spPr>
          <a:xfrm xmlns:a="http://schemas.openxmlformats.org/drawingml/2006/main">
            <a:off x="8138160" y="1965960"/>
            <a:ext cx="50292" cy="2377440"/>
          </a:xfrm>
          <a:prstGeom xmlns:a="http://schemas.openxmlformats.org/drawingml/2006/main" prst="rect">
            <a:avLst/>
          </a:prstGeom>
          <a:solidFill xmlns:a="http://schemas.openxmlformats.org/drawingml/2006/main">
            <a:srgbClr val="FF59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F39C190F-06F9-4560-8276-6E8096CC4F24}"/>
              </a:ext>
            </a:extLst>
          </p:cNvPr>
          <p:cNvSpPr>
            <a:spLocks xmlns:a="http://schemas.openxmlformats.org/drawingml/2006/main" noGrp="1"/>
          </p:cNvSpPr>
          <p:nvPr/>
        </p:nvSpPr>
        <p:spPr>
          <a:xfrm xmlns:a="http://schemas.openxmlformats.org/drawingml/2006/main">
            <a:off x="8339328" y="1993392"/>
            <a:ext cx="295351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700" b="1" i="0">
                <a:solidFill>
                  <a:srgbClr val="FAFCFF"/>
                </a:solidFill>
                <a:latin typeface="Aptos"/>
                <a:ea typeface="Aptos"/>
                <a:cs typeface="Aptos"/>
              </a:rPr>
              <a:t>OUTPUT</a:t>
            </a:r>
          </a:p>
        </p:txBody>
      </p:sp>
      <p:sp>
        <p:nvSpPr>
          <p:cNvPr id="18" name="TextBox 17">
            <a:extLst xmlns:a="http://schemas.openxmlformats.org/drawingml/2006/main">
              <a:ext uri="{FF2B5EF4-FFF2-40B4-BE49-F238E27FC236}">
                <a16:creationId xmlns:a16="http://schemas.microsoft.com/office/drawing/2014/main" id="{AB026CB3-208A-4972-AF59-09C035118E96}"/>
              </a:ext>
            </a:extLst>
          </p:cNvPr>
          <p:cNvSpPr>
            <a:spLocks xmlns:a="http://schemas.openxmlformats.org/drawingml/2006/main" noGrp="1"/>
          </p:cNvSpPr>
          <p:nvPr/>
        </p:nvSpPr>
        <p:spPr>
          <a:xfrm xmlns:a="http://schemas.openxmlformats.org/drawingml/2006/main">
            <a:off x="8458200" y="2560320"/>
            <a:ext cx="2651760"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defPPr>
              <a:defRPr sz="3600"/>
            </a:defPPr>
            <a:lvl1pPr>
              <a:defRPr sz="3600"/>
            </a:lvl1pPr>
            <a:lvl2pPr>
              <a:defRPr sz="3600"/>
            </a:lvl2pPr>
            <a:lvl3pPr>
              <a:defRPr sz="3600"/>
            </a:lvl3pPr>
            <a:lvl4pPr>
              <a:defRPr sz="3600"/>
            </a:lvl4pPr>
            <a:lvl5pPr>
              <a:defRPr sz="3600"/>
            </a:lvl5pPr>
            <a:lvl6pPr>
              <a:defRPr sz="3600"/>
            </a:lvl6pPr>
            <a:lvl7pPr>
              <a:defRPr sz="3600"/>
            </a:lvl7pPr>
            <a:lvl8pPr>
              <a:defRPr sz="3600"/>
            </a:lvl8pPr>
            <a:lvl9pPr>
              <a:defRPr sz="3600"/>
            </a:lvl9pPr>
          </a:lstStyle>
          <a:p xmlns:a="http://schemas.openxmlformats.org/drawingml/2006/main">
            <a:pPr algn="ctr">
              <a:spcAft>
                <a:spcPts val="400"/>
              </a:spcAft>
              <a:buNone/>
            </a:pPr>
            <a:r>
              <a:rPr sz="3600" b="1" i="0">
                <a:solidFill>
                  <a:srgbClr val="FF5970"/>
                </a:solidFill>
                <a:latin typeface="Aptos"/>
                <a:ea typeface="Aptos"/>
                <a:cs typeface="Aptos"/>
              </a:rPr>
              <a:t>VERIFY</a:t>
            </a:r>
          </a:p>
        </p:txBody>
      </p:sp>
      <p:sp>
        <p:nvSpPr>
          <p:cNvPr id="19" name="TextBox 18">
            <a:extLst xmlns:a="http://schemas.openxmlformats.org/drawingml/2006/main">
              <a:ext uri="{FF2B5EF4-FFF2-40B4-BE49-F238E27FC236}">
                <a16:creationId xmlns:a16="http://schemas.microsoft.com/office/drawing/2014/main" id="{615D0AE1-6665-4B38-8AD8-1498E396B0EE}"/>
              </a:ext>
            </a:extLst>
          </p:cNvPr>
          <p:cNvSpPr>
            <a:spLocks xmlns:a="http://schemas.openxmlformats.org/drawingml/2006/main" noGrp="1"/>
          </p:cNvSpPr>
          <p:nvPr/>
        </p:nvSpPr>
        <p:spPr>
          <a:xfrm xmlns:a="http://schemas.openxmlformats.org/drawingml/2006/main">
            <a:off x="8412480" y="3337560"/>
            <a:ext cx="2743200" cy="2072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000" b="1" i="0">
                <a:solidFill>
                  <a:srgbClr val="9EB7D7"/>
                </a:solidFill>
                <a:latin typeface="Aptos"/>
                <a:ea typeface="Aptos"/>
                <a:cs typeface="Aptos"/>
              </a:rPr>
              <a:t>CATEGORICAL RULE RESULT</a:t>
            </a:r>
          </a:p>
        </p:txBody>
      </p:sp>
      <p:sp>
        <p:nvSpPr>
          <p:cNvPr id="20" name="TextBox 19">
            <a:extLst xmlns:a="http://schemas.openxmlformats.org/drawingml/2006/main">
              <a:ext uri="{FF2B5EF4-FFF2-40B4-BE49-F238E27FC236}">
                <a16:creationId xmlns:a16="http://schemas.microsoft.com/office/drawing/2014/main" id="{9A33AE96-61CE-4744-8277-B84E89E4D11D}"/>
              </a:ext>
            </a:extLst>
          </p:cNvPr>
          <p:cNvSpPr>
            <a:spLocks xmlns:a="http://schemas.openxmlformats.org/drawingml/2006/main" noGrp="1"/>
          </p:cNvSpPr>
          <p:nvPr/>
        </p:nvSpPr>
        <p:spPr>
          <a:xfrm xmlns:a="http://schemas.openxmlformats.org/drawingml/2006/main">
            <a:off x="8366760" y="3794760"/>
            <a:ext cx="2788920" cy="2529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300" b="1" i="0">
                <a:solidFill>
                  <a:srgbClr val="FAFCFF"/>
                </a:solidFill>
                <a:latin typeface="Aptos"/>
                <a:ea typeface="Aptos"/>
                <a:cs typeface="Aptos"/>
              </a:rPr>
              <a:t>Independent check needed</a:t>
            </a:r>
          </a:p>
        </p:txBody>
      </p:sp>
      <p:sp>
        <p:nvSpPr>
          <p:cNvPr id="21" name="Rounded Rectangle 20">
            <a:extLst xmlns:a="http://schemas.openxmlformats.org/drawingml/2006/main">
              <a:ext uri="{FF2B5EF4-FFF2-40B4-BE49-F238E27FC236}">
                <a16:creationId xmlns:a16="http://schemas.microsoft.com/office/drawing/2014/main" id="{67002F68-9C9C-4C46-ADF8-31161814EBF2}"/>
              </a:ext>
            </a:extLst>
          </p:cNvPr>
          <p:cNvSpPr>
            <a:spLocks xmlns:a="http://schemas.openxmlformats.org/drawingml/2006/main" noGrp="1"/>
          </p:cNvSpPr>
          <p:nvPr/>
        </p:nvSpPr>
        <p:spPr>
          <a:xfrm xmlns:a="http://schemas.openxmlformats.org/drawingml/2006/main">
            <a:off x="3749039" y="5166360"/>
            <a:ext cx="4663440" cy="384048"/>
          </a:xfrm>
          <a:prstGeom xmlns:a="http://schemas.openxmlformats.org/drawingml/2006/main" prst="round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B73DA468-F045-4D5F-93E7-84632B07FFE1}"/>
              </a:ext>
            </a:extLst>
          </p:cNvPr>
          <p:cNvSpPr>
            <a:spLocks xmlns:a="http://schemas.openxmlformats.org/drawingml/2006/main" noGrp="1"/>
          </p:cNvSpPr>
          <p:nvPr/>
        </p:nvSpPr>
        <p:spPr>
          <a:xfrm xmlns:a="http://schemas.openxmlformats.org/drawingml/2006/main">
            <a:off x="3803903" y="5202936"/>
            <a:ext cx="4553712"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spcAft>
                <a:spcPts val="400"/>
              </a:spcAft>
              <a:buNone/>
            </a:pPr>
            <a:r>
              <a:rPr sz="1100" b="1" i="0">
                <a:solidFill>
                  <a:srgbClr val="FAFCFF"/>
                </a:solidFill>
                <a:latin typeface="Aptos"/>
                <a:ea typeface="Aptos"/>
                <a:cs typeface="Aptos"/>
              </a:rPr>
              <a:t>PAUSE AND VERIFY INDEPENDENTLY</a:t>
            </a:r>
          </a:p>
        </p:txBody>
      </p:sp>
      <p:sp>
        <p:nvSpPr>
          <p:cNvPr id="23" name="TextBox 22">
            <a:extLst xmlns:a="http://schemas.openxmlformats.org/drawingml/2006/main">
              <a:ext uri="{FF2B5EF4-FFF2-40B4-BE49-F238E27FC236}">
                <a16:creationId xmlns:a16="http://schemas.microsoft.com/office/drawing/2014/main" id="{D8F55AD6-D557-41EC-B27B-B26F035D9214}"/>
              </a:ext>
            </a:extLst>
          </p:cNvPr>
          <p:cNvSpPr>
            <a:spLocks xmlns:a="http://schemas.openxmlformats.org/drawingml/2006/main" noGrp="1"/>
          </p:cNvSpPr>
          <p:nvPr/>
        </p:nvSpPr>
        <p:spPr>
          <a:xfrm xmlns:a="http://schemas.openxmlformats.org/drawingml/2006/main">
            <a:off x="868680" y="5806440"/>
            <a:ext cx="1060704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spcAft>
                <a:spcPts val="400"/>
              </a:spcAft>
              <a:buNone/>
            </a:pPr>
            <a:r>
              <a:rPr sz="1500" b="0" i="1">
                <a:solidFill>
                  <a:srgbClr val="DEEEFF"/>
                </a:solidFill>
                <a:latin typeface="Aptos"/>
                <a:ea typeface="Aptos"/>
                <a:cs typeface="Aptos"/>
              </a:rPr>
              <a:t>28 synthetic checks pass. Detection accuracy and human benefit remain unmeasured.</a:t>
            </a:r>
          </a:p>
        </p:txBody>
      </p:sp>
    </p:spTree>
    <p:extLst>
      <p:ext uri="{BB962C8B-B14F-4D97-AF65-F5344CB8AC3E}">
        <p14:creationId xmlns:p14="http://schemas.microsoft.com/office/powerpoint/2010/main" val="1191518579"/>
      </p:ext>
    </p:extLst>
  </p:cSld>
</p:sld>
</file>

<file path=ppt/slides/slide10.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01385E-9E6A-405A-9F3F-5B27EC362506}"/>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A645D69-014A-47A4-B0D2-63E898123CF0}"/>
              </a:ext>
            </a:extLst>
          </p:cNvPr>
          <p:cNvSpPr>
            <a:spLocks xmlns:a="http://schemas.openxmlformats.org/drawingml/2006/main" noGrp="1"/>
          </p:cNvSpPr>
          <p:nvPr/>
        </p:nvSpPr>
        <p:spPr>
          <a:xfrm xmlns:a="http://schemas.openxmlformats.org/drawingml/2006/main">
            <a:off x="566928" y="384048"/>
            <a:ext cx="9875520" cy="2072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000" b="1" i="0">
                <a:solidFill>
                  <a:srgbClr val="2ADAF5"/>
                </a:solidFill>
                <a:latin typeface="Aptos"/>
                <a:ea typeface="Aptos"/>
                <a:cs typeface="Aptos"/>
              </a:rPr>
              <a:t>09 / RESEARCH ROADMAP</a:t>
            </a:r>
          </a:p>
        </p:txBody>
      </p:sp>
      <p:sp>
        <p:nvSpPr>
          <p:cNvPr id="4" name="TextBox 3">
            <a:extLst xmlns:a="http://schemas.openxmlformats.org/drawingml/2006/main">
              <a:ext uri="{FF2B5EF4-FFF2-40B4-BE49-F238E27FC236}">
                <a16:creationId xmlns:a16="http://schemas.microsoft.com/office/drawing/2014/main" id="{83AD3DC7-883C-4D66-9D3F-91A0A306EBA6}"/>
              </a:ext>
            </a:extLst>
          </p:cNvPr>
          <p:cNvSpPr>
            <a:spLocks xmlns:a="http://schemas.openxmlformats.org/drawingml/2006/main" noGrp="1"/>
          </p:cNvSpPr>
          <p:nvPr/>
        </p:nvSpPr>
        <p:spPr>
          <a:xfrm xmlns:a="http://schemas.openxmlformats.org/drawingml/2006/main">
            <a:off x="566928" y="749808"/>
            <a:ext cx="10881360" cy="4968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900" b="1" i="0">
                <a:solidFill>
                  <a:srgbClr val="FAFCFF"/>
                </a:solidFill>
                <a:latin typeface="Aptos"/>
                <a:ea typeface="Aptos"/>
                <a:cs typeface="Aptos"/>
              </a:rPr>
              <a:t>Evaluation Plan and Development Gates</a:t>
            </a:r>
          </a:p>
        </p:txBody>
      </p:sp>
      <p:sp>
        <p:nvSpPr>
          <p:cNvPr id="5" name="Rectangle 4">
            <a:extLst xmlns:a="http://schemas.openxmlformats.org/drawingml/2006/main">
              <a:ext uri="{FF2B5EF4-FFF2-40B4-BE49-F238E27FC236}">
                <a16:creationId xmlns:a16="http://schemas.microsoft.com/office/drawing/2014/main" id="{8D9AEFA6-D94F-446D-9C25-A0E448DA288F}"/>
              </a:ext>
            </a:extLst>
          </p:cNvPr>
          <p:cNvSpPr>
            <a:spLocks xmlns:a="http://schemas.openxmlformats.org/drawingml/2006/main" noGrp="1"/>
          </p:cNvSpPr>
          <p:nvPr/>
        </p:nvSpPr>
        <p:spPr>
          <a:xfrm xmlns:a="http://schemas.openxmlformats.org/drawingml/2006/main">
            <a:off x="585216" y="1417320"/>
            <a:ext cx="777240" cy="41148"/>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5F81700-0E4D-42B8-BA9B-CA4D80D7D582}"/>
              </a:ext>
            </a:extLst>
          </p:cNvPr>
          <p:cNvSpPr>
            <a:spLocks xmlns:a="http://schemas.openxmlformats.org/drawingml/2006/main" noGrp="1"/>
          </p:cNvSpPr>
          <p:nvPr/>
        </p:nvSpPr>
        <p:spPr>
          <a:xfrm xmlns:a="http://schemas.openxmlformats.org/drawingml/2006/main">
            <a:off x="11155680" y="384048"/>
            <a:ext cx="5029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spcAft>
                <a:spcPts val="400"/>
              </a:spcAft>
              <a:buNone/>
            </a:pPr>
            <a:r>
              <a:rPr sz="1000" b="1" i="0">
                <a:solidFill>
                  <a:srgbClr val="9EB7D7"/>
                </a:solidFill>
                <a:latin typeface="Aptos"/>
                <a:ea typeface="Aptos"/>
                <a:cs typeface="Aptos"/>
              </a:rPr>
              <a:t>10</a:t>
            </a:r>
          </a:p>
        </p:txBody>
      </p:sp>
      <p:sp>
        <p:nvSpPr>
          <p:cNvPr id="7" name="Rounded Rectangle 6">
            <a:extLst xmlns:a="http://schemas.openxmlformats.org/drawingml/2006/main">
              <a:ext uri="{FF2B5EF4-FFF2-40B4-BE49-F238E27FC236}">
                <a16:creationId xmlns:a16="http://schemas.microsoft.com/office/drawing/2014/main" id="{2CE5F47A-9708-4C77-9DDE-6ED8006429CE}"/>
              </a:ext>
            </a:extLst>
          </p:cNvPr>
          <p:cNvSpPr>
            <a:spLocks xmlns:a="http://schemas.openxmlformats.org/drawingml/2006/main" noGrp="1"/>
          </p:cNvSpPr>
          <p:nvPr/>
        </p:nvSpPr>
        <p:spPr>
          <a:xfrm xmlns:a="http://schemas.openxmlformats.org/drawingml/2006/main">
            <a:off x="777240" y="1828800"/>
            <a:ext cx="4937760" cy="329184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0887028E-428C-4346-BE5C-BBD67A698584}"/>
              </a:ext>
            </a:extLst>
          </p:cNvPr>
          <p:cNvSpPr>
            <a:spLocks xmlns:a="http://schemas.openxmlformats.org/drawingml/2006/main" noGrp="1"/>
          </p:cNvSpPr>
          <p:nvPr/>
        </p:nvSpPr>
        <p:spPr>
          <a:xfrm xmlns:a="http://schemas.openxmlformats.org/drawingml/2006/main">
            <a:off x="777240" y="1965960"/>
            <a:ext cx="50292" cy="301752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8A73F842-2918-4BFD-80FA-C30B240DB524}"/>
              </a:ext>
            </a:extLst>
          </p:cNvPr>
          <p:cNvSpPr>
            <a:spLocks xmlns:a="http://schemas.openxmlformats.org/drawingml/2006/main" noGrp="1"/>
          </p:cNvSpPr>
          <p:nvPr/>
        </p:nvSpPr>
        <p:spPr>
          <a:xfrm xmlns:a="http://schemas.openxmlformats.org/drawingml/2006/main">
            <a:off x="978408" y="1993392"/>
            <a:ext cx="455371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Proposed milestones</a:t>
            </a:r>
          </a:p>
        </p:txBody>
      </p:sp>
      <p:sp>
        <p:nvSpPr>
          <p:cNvPr id="10" name="TextBox 9">
            <a:extLst xmlns:a="http://schemas.openxmlformats.org/drawingml/2006/main">
              <a:ext uri="{FF2B5EF4-FFF2-40B4-BE49-F238E27FC236}">
                <a16:creationId xmlns:a16="http://schemas.microsoft.com/office/drawing/2014/main" id="{A445D9D2-B2D3-4843-8111-DCF6FD6C555E}"/>
              </a:ext>
            </a:extLst>
          </p:cNvPr>
          <p:cNvSpPr>
            <a:spLocks xmlns:a="http://schemas.openxmlformats.org/drawingml/2006/main" noGrp="1"/>
          </p:cNvSpPr>
          <p:nvPr/>
        </p:nvSpPr>
        <p:spPr>
          <a:xfrm xmlns:a="http://schemas.openxmlformats.org/drawingml/2006/main">
            <a:off x="960120" y="2487168"/>
            <a:ext cx="4590288" cy="155346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500">
                <a:solidFill>
                  <a:srgbClr val="DEEEFF"/>
                </a:solidFill>
                <a:latin typeface="Aptos"/>
                <a:ea typeface="Aptos"/>
                <a:cs typeface="Aptos"/>
              </a:defRPr>
            </a:pPr>
            <a:r>
              <a:t>3 months: scope and label data</a:t>
            </a:r>
          </a:p>
          <a:p xmlns:a="http://schemas.openxmlformats.org/drawingml/2006/main">
            <a:pPr>
              <a:spcAft>
                <a:spcPts val="700"/>
              </a:spcAft>
              <a:buNone/>
              <a:defRPr sz="1500">
                <a:solidFill>
                  <a:srgbClr val="DEEEFF"/>
                </a:solidFill>
                <a:latin typeface="Aptos"/>
                <a:ea typeface="Aptos"/>
                <a:cs typeface="Aptos"/>
              </a:defRPr>
            </a:pPr>
            <a:r>
              <a:t>6 months: compare NLP baselines</a:t>
            </a:r>
          </a:p>
          <a:p xmlns:a="http://schemas.openxmlformats.org/drawingml/2006/main">
            <a:pPr>
              <a:spcAft>
                <a:spcPts val="700"/>
              </a:spcAft>
              <a:buNone/>
              <a:defRPr sz="1500">
                <a:solidFill>
                  <a:srgbClr val="DEEEFF"/>
                </a:solidFill>
                <a:latin typeface="Aptos"/>
                <a:ea typeface="Aptos"/>
                <a:cs typeface="Aptos"/>
              </a:defRPr>
            </a:pPr>
            <a:r>
              <a:t>12 months: user study if approved</a:t>
            </a:r>
          </a:p>
          <a:p xmlns:a="http://schemas.openxmlformats.org/drawingml/2006/main">
            <a:pPr>
              <a:spcAft>
                <a:spcPts val="700"/>
              </a:spcAft>
              <a:buNone/>
              <a:defRPr sz="1500">
                <a:solidFill>
                  <a:srgbClr val="DEEEFF"/>
                </a:solidFill>
                <a:latin typeface="Aptos"/>
                <a:ea typeface="Aptos"/>
                <a:cs typeface="Aptos"/>
              </a:defRPr>
            </a:pPr>
            <a:r>
              <a:t>Source targets: F1 ≥ 0.90, FPR ≤ 5%</a:t>
            </a:r>
          </a:p>
          <a:p xmlns:a="http://schemas.openxmlformats.org/drawingml/2006/main">
            <a:pPr>
              <a:spcAft>
                <a:spcPts val="700"/>
              </a:spcAft>
              <a:buNone/>
              <a:defRPr sz="1500">
                <a:solidFill>
                  <a:srgbClr val="DEEEFF"/>
                </a:solidFill>
                <a:latin typeface="Aptos"/>
                <a:ea typeface="Aptos"/>
                <a:cs typeface="Aptos"/>
              </a:defRPr>
            </a:pPr>
            <a:r>
              <a:t>All targets remain unvalidated</a:t>
            </a:r>
          </a:p>
        </p:txBody>
      </p:sp>
      <p:sp>
        <p:nvSpPr>
          <p:cNvPr id="11" name="Rounded Rectangle 10">
            <a:extLst xmlns:a="http://schemas.openxmlformats.org/drawingml/2006/main">
              <a:ext uri="{FF2B5EF4-FFF2-40B4-BE49-F238E27FC236}">
                <a16:creationId xmlns:a16="http://schemas.microsoft.com/office/drawing/2014/main" id="{108031CB-DFE1-4F01-B28E-41710CB5341A}"/>
              </a:ext>
            </a:extLst>
          </p:cNvPr>
          <p:cNvSpPr>
            <a:spLocks xmlns:a="http://schemas.openxmlformats.org/drawingml/2006/main" noGrp="1"/>
          </p:cNvSpPr>
          <p:nvPr/>
        </p:nvSpPr>
        <p:spPr>
          <a:xfrm xmlns:a="http://schemas.openxmlformats.org/drawingml/2006/main">
            <a:off x="6400800" y="1828800"/>
            <a:ext cx="4937760" cy="3291840"/>
          </a:xfrm>
          <a:prstGeom xmlns:a="http://schemas.openxmlformats.org/drawingml/2006/main" prst="roundRect">
            <a:avLst/>
          </a:prstGeom>
          <a:solidFill xmlns:a="http://schemas.openxmlformats.org/drawingml/2006/main">
            <a:srgbClr val="0F2348"/>
          </a:solidFill>
          <a:ln xmlns:a="http://schemas.openxmlformats.org/drawingml/2006/main" w="12700">
            <a:solidFill>
              <a:srgbClr val="2042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FB4F19AF-6C6D-45D4-8743-F2738C206963}"/>
              </a:ext>
            </a:extLst>
          </p:cNvPr>
          <p:cNvSpPr>
            <a:spLocks xmlns:a="http://schemas.openxmlformats.org/drawingml/2006/main" noGrp="1"/>
          </p:cNvSpPr>
          <p:nvPr/>
        </p:nvSpPr>
        <p:spPr>
          <a:xfrm xmlns:a="http://schemas.openxmlformats.org/drawingml/2006/main">
            <a:off x="6400800" y="1965960"/>
            <a:ext cx="50292" cy="3017520"/>
          </a:xfrm>
          <a:prstGeom xmlns:a="http://schemas.openxmlformats.org/drawingml/2006/main" prst="rect">
            <a:avLst/>
          </a:prstGeom>
          <a:solidFill xmlns:a="http://schemas.openxmlformats.org/drawingml/2006/main">
            <a:srgbClr val="267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C7FE75D-A73E-4C84-904E-1AE8FB61AAC5}"/>
              </a:ext>
            </a:extLst>
          </p:cNvPr>
          <p:cNvSpPr>
            <a:spLocks xmlns:a="http://schemas.openxmlformats.org/drawingml/2006/main" noGrp="1"/>
          </p:cNvSpPr>
          <p:nvPr/>
        </p:nvSpPr>
        <p:spPr>
          <a:xfrm xmlns:a="http://schemas.openxmlformats.org/drawingml/2006/main">
            <a:off x="6601968" y="1993392"/>
            <a:ext cx="455371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800" b="1" i="0">
                <a:solidFill>
                  <a:srgbClr val="FAFCFF"/>
                </a:solidFill>
                <a:latin typeface="Aptos"/>
                <a:ea typeface="Aptos"/>
                <a:cs typeface="Aptos"/>
              </a:rPr>
              <a:t>Evaluation requirements</a:t>
            </a:r>
          </a:p>
        </p:txBody>
      </p:sp>
      <p:sp>
        <p:nvSpPr>
          <p:cNvPr id="14" name="TextBox 13">
            <a:extLst xmlns:a="http://schemas.openxmlformats.org/drawingml/2006/main">
              <a:ext uri="{FF2B5EF4-FFF2-40B4-BE49-F238E27FC236}">
                <a16:creationId xmlns:a16="http://schemas.microsoft.com/office/drawing/2014/main" id="{1B6B070E-D4A0-4889-9563-B6F3282FAE97}"/>
              </a:ext>
            </a:extLst>
          </p:cNvPr>
          <p:cNvSpPr>
            <a:spLocks xmlns:a="http://schemas.openxmlformats.org/drawingml/2006/main" noGrp="1"/>
          </p:cNvSpPr>
          <p:nvPr/>
        </p:nvSpPr>
        <p:spPr>
          <a:xfrm xmlns:a="http://schemas.openxmlformats.org/drawingml/2006/main">
            <a:off x="6583680" y="2487168"/>
            <a:ext cx="4590288" cy="1553464"/>
          </a:xfrm>
          <a:prstGeom xmlns:a="http://schemas.openxmlformats.org/drawingml/2006/main" prst="rect">
            <a:avLst/>
          </a:prstGeom>
          <a:noFill xmlns:a="http://schemas.openxmlformats.org/drawingml/2006/main"/>
        </p:spPr>
        <p:txBody>
          <a:bodyPr xmlns:a="http://schemas.openxmlformats.org/drawingml/2006/main" wrap="square" lIns="45720" tIns="36576" rIns="45720" bIns="18288">
            <a:spAutoFit/>
          </a:bodyPr>
          <a:lstStyle xmlns:a="http://schemas.openxmlformats.org/drawingml/2006/main"/>
          <a:p xmlns:a="http://schemas.openxmlformats.org/drawingml/2006/main">
            <a:pPr>
              <a:spcAft>
                <a:spcPts val="700"/>
              </a:spcAft>
              <a:buNone/>
              <a:defRPr sz="1500">
                <a:solidFill>
                  <a:srgbClr val="DEEEFF"/>
                </a:solidFill>
                <a:latin typeface="Aptos"/>
                <a:ea typeface="Aptos"/>
                <a:cs typeface="Aptos"/>
              </a:defRPr>
            </a:pPr>
            <a:r>
              <a:t>Hold out message families</a:t>
            </a:r>
          </a:p>
          <a:p xmlns:a="http://schemas.openxmlformats.org/drawingml/2006/main">
            <a:pPr>
              <a:spcAft>
                <a:spcPts val="700"/>
              </a:spcAft>
              <a:buNone/>
              <a:defRPr sz="1500">
                <a:solidFill>
                  <a:srgbClr val="DEEEFF"/>
                </a:solidFill>
                <a:latin typeface="Aptos"/>
                <a:ea typeface="Aptos"/>
                <a:cs typeface="Aptos"/>
              </a:defRPr>
            </a:pPr>
            <a:r>
              <a:t>Include legitimate urgent requests</a:t>
            </a:r>
          </a:p>
          <a:p xmlns:a="http://schemas.openxmlformats.org/drawingml/2006/main">
            <a:pPr>
              <a:spcAft>
                <a:spcPts val="700"/>
              </a:spcAft>
              <a:buNone/>
              <a:defRPr sz="1500">
                <a:solidFill>
                  <a:srgbClr val="DEEEFF"/>
                </a:solidFill>
                <a:latin typeface="Aptos"/>
                <a:ea typeface="Aptos"/>
                <a:cs typeface="Aptos"/>
              </a:defRPr>
            </a:pPr>
            <a:r>
              <a:t>Report errors by language</a:t>
            </a:r>
          </a:p>
          <a:p xmlns:a="http://schemas.openxmlformats.org/drawingml/2006/main">
            <a:pPr>
              <a:spcAft>
                <a:spcPts val="700"/>
              </a:spcAft>
              <a:buNone/>
              <a:defRPr sz="1500">
                <a:solidFill>
                  <a:srgbClr val="DEEEFF"/>
                </a:solidFill>
                <a:latin typeface="Aptos"/>
                <a:ea typeface="Aptos"/>
                <a:cs typeface="Aptos"/>
              </a:defRPr>
            </a:pPr>
            <a:r>
              <a:t>Measure decisions and false alarms</a:t>
            </a:r>
          </a:p>
          <a:p xmlns:a="http://schemas.openxmlformats.org/drawingml/2006/main">
            <a:pPr>
              <a:spcAft>
                <a:spcPts val="700"/>
              </a:spcAft>
              <a:buNone/>
              <a:defRPr sz="1500">
                <a:solidFill>
                  <a:srgbClr val="DEEEFF"/>
                </a:solidFill>
                <a:latin typeface="Aptos"/>
                <a:ea typeface="Aptos"/>
                <a:cs typeface="Aptos"/>
              </a:defRPr>
            </a:pPr>
            <a:r>
              <a:t>Budget proposal needs confirmation</a:t>
            </a:r>
          </a:p>
        </p:txBody>
      </p:sp>
      <p:sp>
        <p:nvSpPr>
          <p:cNvPr id="15" name="TextBox 14">
            <a:extLst xmlns:a="http://schemas.openxmlformats.org/drawingml/2006/main">
              <a:ext uri="{FF2B5EF4-FFF2-40B4-BE49-F238E27FC236}">
                <a16:creationId xmlns:a16="http://schemas.microsoft.com/office/drawing/2014/main" id="{66313288-6379-40D1-9B38-3094ADB972B1}"/>
              </a:ext>
            </a:extLst>
          </p:cNvPr>
          <p:cNvSpPr>
            <a:spLocks xmlns:a="http://schemas.openxmlformats.org/drawingml/2006/main" noGrp="1"/>
          </p:cNvSpPr>
          <p:nvPr/>
        </p:nvSpPr>
        <p:spPr>
          <a:xfrm xmlns:a="http://schemas.openxmlformats.org/drawingml/2006/main">
            <a:off x="914400" y="5577840"/>
            <a:ext cx="1024128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algn="ctr">
              <a:spcAft>
                <a:spcPts val="400"/>
              </a:spcAft>
              <a:buNone/>
            </a:pPr>
            <a:r>
              <a:rPr sz="1500" b="1" i="0">
                <a:solidFill>
                  <a:srgbClr val="2ADAF5"/>
                </a:solidFill>
                <a:latin typeface="Aptos"/>
                <a:ea typeface="Aptos"/>
                <a:cs typeface="Aptos"/>
              </a:rPr>
              <a:t>Behavioural sensing, message rewriting and operational integration remain future research.</a:t>
            </a:r>
          </a:p>
        </p:txBody>
      </p:sp>
    </p:spTree>
    <p:extLst>
      <p:ext uri="{BB962C8B-B14F-4D97-AF65-F5344CB8AC3E}">
        <p14:creationId xmlns:p14="http://schemas.microsoft.com/office/powerpoint/2010/main" val="43870314"/>
      </p:ext>
    </p:extLst>
  </p:cSld>
</p:sld>
</file>

<file path=ppt/slides/slide11.xml><?xml version="1.0" encoding="utf-8"?>
<p:sld xmlns:p="http://schemas.openxmlformats.org/presentationml/2006/main">
  <p:cSld>
    <p:bg>
      <p:bgPr>
        <a:solidFill xmlns:a="http://schemas.openxmlformats.org/drawingml/2006/main">
          <a:srgbClr val="0A1834"/>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7144C44-80AA-4ACB-9E10-3C0B3C3C2A75}"/>
              </a:ext>
            </a:extLst>
          </p:cNvPr>
          <p:cNvSpPr>
            <a:spLocks xmlns:a="http://schemas.openxmlformats.org/drawingml/2006/main" noGrp="1"/>
          </p:cNvSpPr>
          <p:nvPr/>
        </p:nvSpPr>
        <p:spPr>
          <a:xfrm xmlns:a="http://schemas.openxmlformats.org/drawingml/2006/main">
            <a:off x="0" y="0"/>
            <a:ext cx="91440" cy="6858000"/>
          </a:xfrm>
          <a:prstGeom xmlns:a="http://schemas.openxmlformats.org/drawingml/2006/main" prst="rect">
            <a:avLst/>
          </a:prstGeom>
          <a:solidFill xmlns:a="http://schemas.openxmlformats.org/drawingml/2006/main">
            <a:srgbClr val="2ADA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C7B1F0E9-E84D-447A-931F-7C72BFC48CE9}"/>
              </a:ext>
            </a:extLst>
          </p:cNvPr>
          <p:cNvSpPr>
            <a:spLocks xmlns:a="http://schemas.openxmlformats.org/drawingml/2006/main" noGrp="1"/>
          </p:cNvSpPr>
          <p:nvPr/>
        </p:nvSpPr>
        <p:spPr>
          <a:xfrm xmlns:a="http://schemas.openxmlformats.org/drawingml/2006/main">
            <a:off x="8686800" y="1005840"/>
            <a:ext cx="2377440" cy="2377440"/>
          </a:xfrm>
          <a:prstGeom xmlns:a="http://schemas.openxmlformats.org/drawingml/2006/main" prst="ellipse">
            <a:avLst/>
          </a:prstGeom>
          <a:noFill xmlns:a="http://schemas.openxmlformats.org/drawingml/2006/main"/>
          <a:ln xmlns:a="http://schemas.openxmlformats.org/drawingml/2006/main" w="25400">
            <a:solidFill>
              <a:srgbClr val="267B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3807B4B8-64FA-45B4-81E1-8D39B4BDF9DB}"/>
              </a:ext>
            </a:extLst>
          </p:cNvPr>
          <p:cNvSpPr>
            <a:spLocks xmlns:a="http://schemas.openxmlformats.org/drawingml/2006/main" noGrp="1"/>
          </p:cNvSpPr>
          <p:nvPr/>
        </p:nvSpPr>
        <p:spPr>
          <a:xfrm xmlns:a="http://schemas.openxmlformats.org/drawingml/2006/main">
            <a:off x="9555480" y="1874519"/>
            <a:ext cx="1508760" cy="1508760"/>
          </a:xfrm>
          <a:prstGeom xmlns:a="http://schemas.openxmlformats.org/drawingml/2006/main" prst="ellipse">
            <a:avLst/>
          </a:prstGeom>
          <a:noFill xmlns:a="http://schemas.openxmlformats.org/drawingml/2006/main"/>
          <a:ln xmlns:a="http://schemas.openxmlformats.org/drawingml/2006/main" w="25400">
            <a:solidFill>
              <a:srgbClr val="2ADA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Oval 4">
            <a:extLst xmlns:a="http://schemas.openxmlformats.org/drawingml/2006/main">
              <a:ext uri="{FF2B5EF4-FFF2-40B4-BE49-F238E27FC236}">
                <a16:creationId xmlns:a16="http://schemas.microsoft.com/office/drawing/2014/main" id="{CFE6A783-EB46-4EC4-9DC1-99BF28535C4F}"/>
              </a:ext>
            </a:extLst>
          </p:cNvPr>
          <p:cNvSpPr>
            <a:spLocks xmlns:a="http://schemas.openxmlformats.org/drawingml/2006/main" noGrp="1"/>
          </p:cNvSpPr>
          <p:nvPr/>
        </p:nvSpPr>
        <p:spPr>
          <a:xfrm xmlns:a="http://schemas.openxmlformats.org/drawingml/2006/main">
            <a:off x="8183879" y="2514600"/>
            <a:ext cx="914400" cy="914400"/>
          </a:xfrm>
          <a:prstGeom xmlns:a="http://schemas.openxmlformats.org/drawingml/2006/main" prst="ellipse">
            <a:avLst/>
          </a:prstGeom>
          <a:noFill xmlns:a="http://schemas.openxmlformats.org/drawingml/2006/main"/>
          <a:ln xmlns:a="http://schemas.openxmlformats.org/drawingml/2006/main" w="25400">
            <a:solidFill>
              <a:srgbClr val="19488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71B9DFC-9F37-4195-96D2-C750B1692F03}"/>
              </a:ext>
            </a:extLst>
          </p:cNvPr>
          <p:cNvSpPr>
            <a:spLocks xmlns:a="http://schemas.openxmlformats.org/drawingml/2006/main" noGrp="1"/>
          </p:cNvSpPr>
          <p:nvPr/>
        </p:nvSpPr>
        <p:spPr>
          <a:xfrm xmlns:a="http://schemas.openxmlformats.org/drawingml/2006/main">
            <a:off x="822960" y="1508760"/>
            <a:ext cx="731520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600" b="1" i="0">
                <a:solidFill>
                  <a:srgbClr val="FAFCFF"/>
                </a:solidFill>
                <a:latin typeface="Aptos"/>
                <a:ea typeface="Aptos"/>
                <a:cs typeface="Aptos"/>
              </a:rPr>
              <a:t>DIGITAL COGNITIVE FIREWALL</a:t>
            </a:r>
          </a:p>
        </p:txBody>
      </p:sp>
      <p:sp>
        <p:nvSpPr>
          <p:cNvPr id="7" name="TextBox 6">
            <a:extLst xmlns:a="http://schemas.openxmlformats.org/drawingml/2006/main">
              <a:ext uri="{FF2B5EF4-FFF2-40B4-BE49-F238E27FC236}">
                <a16:creationId xmlns:a16="http://schemas.microsoft.com/office/drawing/2014/main" id="{B79B5248-1EF8-4C4C-A478-F4F9A770FB5A}"/>
              </a:ext>
            </a:extLst>
          </p:cNvPr>
          <p:cNvSpPr>
            <a:spLocks xmlns:a="http://schemas.openxmlformats.org/drawingml/2006/main" noGrp="1"/>
          </p:cNvSpPr>
          <p:nvPr/>
        </p:nvSpPr>
        <p:spPr>
          <a:xfrm xmlns:a="http://schemas.openxmlformats.org/drawingml/2006/main">
            <a:off x="841248" y="2331720"/>
            <a:ext cx="6675120" cy="7762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2200" b="0" i="0">
                <a:solidFill>
                  <a:srgbClr val="DEEEFF"/>
                </a:solidFill>
                <a:latin typeface="Aptos"/>
                <a:ea typeface="Aptos"/>
                <a:cs typeface="Aptos"/>
              </a:rPr>
              <a:t>Reviewer materials</a:t>
            </a:r>
          </a:p>
          <a:p xmlns:a="http://schemas.openxmlformats.org/drawingml/2006/main">
            <a:pPr algn="l">
              <a:spcAft>
                <a:spcPts val="400"/>
              </a:spcAft>
              <a:buNone/>
            </a:pPr>
            <a:r>
              <a:rPr sz="2200" b="0" i="0">
                <a:solidFill>
                  <a:srgbClr val="DEEEFF"/>
                </a:solidFill>
                <a:latin typeface="Aptos"/>
                <a:ea typeface="Aptos"/>
                <a:cs typeface="Aptos"/>
              </a:rPr>
              <a:t>Code, recorded demonstration and research evidence</a:t>
            </a:r>
          </a:p>
        </p:txBody>
      </p:sp>
      <p:sp>
        <p:nvSpPr>
          <p:cNvPr id="8" name="TextBox 7">
            <a:extLst xmlns:a="http://schemas.openxmlformats.org/drawingml/2006/main">
              <a:ext uri="{FF2B5EF4-FFF2-40B4-BE49-F238E27FC236}">
                <a16:creationId xmlns:a16="http://schemas.microsoft.com/office/drawing/2014/main" id="{45CD5B97-464C-4975-91E5-126EF2A47A22}"/>
              </a:ext>
            </a:extLst>
          </p:cNvPr>
          <p:cNvSpPr>
            <a:spLocks xmlns:a="http://schemas.openxmlformats.org/drawingml/2006/main" noGrp="1"/>
          </p:cNvSpPr>
          <p:nvPr/>
        </p:nvSpPr>
        <p:spPr>
          <a:xfrm xmlns:a="http://schemas.openxmlformats.org/drawingml/2006/main">
            <a:off x="841248" y="4069080"/>
            <a:ext cx="3840480" cy="5730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3400" b="1" i="0">
                <a:solidFill>
                  <a:srgbClr val="2ADAF5"/>
                </a:solidFill>
                <a:latin typeface="Aptos"/>
                <a:ea typeface="Aptos"/>
                <a:cs typeface="Aptos"/>
              </a:rPr>
              <a:t>REVIEWER LINKS</a:t>
            </a:r>
          </a:p>
        </p:txBody>
      </p:sp>
      <p:sp>
        <p:nvSpPr>
          <p:cNvPr id="9" name="TextBox 8">
            <a:extLst xmlns:a="http://schemas.openxmlformats.org/drawingml/2006/main">
              <a:ext uri="{FF2B5EF4-FFF2-40B4-BE49-F238E27FC236}">
                <a16:creationId xmlns:a16="http://schemas.microsoft.com/office/drawing/2014/main" id="{1281E9F5-50DF-4415-AC90-9CFB0B9E4AB4}"/>
              </a:ext>
            </a:extLst>
          </p:cNvPr>
          <p:cNvSpPr>
            <a:spLocks xmlns:a="http://schemas.openxmlformats.org/drawingml/2006/main" noGrp="1"/>
          </p:cNvSpPr>
          <p:nvPr/>
        </p:nvSpPr>
        <p:spPr>
          <a:xfrm xmlns:a="http://schemas.openxmlformats.org/drawingml/2006/main">
            <a:off x="868680" y="4892040"/>
            <a:ext cx="7429500"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defPPr>
              <a:defRPr sz="1650">
                <a:latin typeface="Aptos"/>
                <a:ea typeface="Aptos"/>
                <a:cs typeface="Aptos"/>
              </a:defRPr>
            </a:defPPr>
            <a:lvl1pPr>
              <a:defRPr sz="1650">
                <a:latin typeface="Aptos"/>
                <a:ea typeface="Aptos"/>
                <a:cs typeface="Aptos"/>
              </a:defRPr>
            </a:lvl1pPr>
            <a:lvl2pPr>
              <a:defRPr sz="1650">
                <a:latin typeface="Aptos"/>
                <a:ea typeface="Aptos"/>
                <a:cs typeface="Aptos"/>
              </a:defRPr>
            </a:lvl2pPr>
            <a:lvl3pPr>
              <a:defRPr sz="1650">
                <a:latin typeface="Aptos"/>
                <a:ea typeface="Aptos"/>
                <a:cs typeface="Aptos"/>
              </a:defRPr>
            </a:lvl3pPr>
            <a:lvl4pPr>
              <a:defRPr sz="1650">
                <a:latin typeface="Aptos"/>
                <a:ea typeface="Aptos"/>
                <a:cs typeface="Aptos"/>
              </a:defRPr>
            </a:lvl4pPr>
            <a:lvl5pPr>
              <a:defRPr sz="1650">
                <a:latin typeface="Aptos"/>
                <a:ea typeface="Aptos"/>
                <a:cs typeface="Aptos"/>
              </a:defRPr>
            </a:lvl5pPr>
            <a:lvl6pPr>
              <a:defRPr sz="1650">
                <a:latin typeface="Aptos"/>
                <a:ea typeface="Aptos"/>
                <a:cs typeface="Aptos"/>
              </a:defRPr>
            </a:lvl6pPr>
            <a:lvl7pPr>
              <a:defRPr sz="1650">
                <a:latin typeface="Aptos"/>
                <a:ea typeface="Aptos"/>
                <a:cs typeface="Aptos"/>
              </a:defRPr>
            </a:lvl7pPr>
            <a:lvl8pPr>
              <a:defRPr sz="1650">
                <a:latin typeface="Aptos"/>
                <a:ea typeface="Aptos"/>
                <a:cs typeface="Aptos"/>
              </a:defRPr>
            </a:lvl8pPr>
            <a:lvl9pPr>
              <a:defRPr sz="1650">
                <a:latin typeface="Aptos"/>
                <a:ea typeface="Aptos"/>
                <a:cs typeface="Aptos"/>
              </a:defRPr>
            </a:lvl9pPr>
          </a:lstStyle>
          <a:p xmlns:a="http://schemas.openxmlformats.org/drawingml/2006/main">
            <a:pPr>
              <a:defRPr sz="1650">
                <a:latin typeface="Aptos"/>
                <a:ea typeface="Aptos"/>
                <a:cs typeface="Aptos"/>
              </a:defRPr>
            </a:pPr>
            <a:r>
              <a:rPr sz="1650" u="sng">
                <a:solidFill>
                  <a:srgbClr val="2ADAF5"/>
                </a:solidFill>
                <a:latin typeface="Aptos"/>
                <a:ea typeface="Aptos"/>
                <a:cs typeface="Aptos"/>
                <a:hlinkClick xmlns:r="http://schemas.openxmlformats.org/officeDocument/2006/relationships" r:id="R32f7e44d6bdf44dd"/>
              </a:rPr>
              <a:t>Open public reviewer repository</a:t>
            </a:r>
          </a:p>
          <a:p xmlns:a="http://schemas.openxmlformats.org/drawingml/2006/main">
            <a:pPr>
              <a:defRPr sz="1650">
                <a:latin typeface="Aptos"/>
                <a:ea typeface="Aptos"/>
                <a:cs typeface="Aptos"/>
              </a:defRPr>
            </a:pPr>
            <a:r>
              <a:rPr sz="1650" u="sng">
                <a:solidFill>
                  <a:srgbClr val="2ADAF5"/>
                </a:solidFill>
                <a:latin typeface="Aptos"/>
                <a:ea typeface="Aptos"/>
                <a:cs typeface="Aptos"/>
                <a:hlinkClick xmlns:r="http://schemas.openxmlformats.org/officeDocument/2006/relationships" r:id="Raf438dbc451649af"/>
              </a:rPr>
              <a:t>Video, pitch deck and template link directory</a:t>
            </a:r>
          </a:p>
        </p:txBody>
      </p:sp>
      <p:sp>
        <p:nvSpPr>
          <p:cNvPr id="10" name="TextBox 9">
            <a:extLst xmlns:a="http://schemas.openxmlformats.org/drawingml/2006/main">
              <a:ext uri="{FF2B5EF4-FFF2-40B4-BE49-F238E27FC236}">
                <a16:creationId xmlns:a16="http://schemas.microsoft.com/office/drawing/2014/main" id="{F7A76B0E-5E07-48A4-9A7D-569B7EDFDF69}"/>
              </a:ext>
            </a:extLst>
          </p:cNvPr>
          <p:cNvSpPr>
            <a:spLocks xmlns:a="http://schemas.openxmlformats.org/drawingml/2006/main" noGrp="1"/>
          </p:cNvSpPr>
          <p:nvPr/>
        </p:nvSpPr>
        <p:spPr>
          <a:xfrm xmlns:a="http://schemas.openxmlformats.org/drawingml/2006/main">
            <a:off x="868680" y="5989320"/>
            <a:ext cx="5943600" cy="222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spcAft>
                <a:spcPts val="400"/>
              </a:spcAft>
              <a:buNone/>
            </a:pPr>
            <a:r>
              <a:rPr sz="1100" b="1" i="0">
                <a:solidFill>
                  <a:srgbClr val="2ADAF5"/>
                </a:solidFill>
                <a:latin typeface="Aptos"/>
                <a:ea typeface="Aptos"/>
                <a:cs typeface="Aptos"/>
              </a:rPr>
              <a:t>Concept proposal with a reproducible rule demonstrator</a:t>
            </a:r>
          </a:p>
        </p:txBody>
      </p:sp>
    </p:spTree>
    <p:extLst>
      <p:ext uri="{BB962C8B-B14F-4D97-AF65-F5344CB8AC3E}">
        <p14:creationId xmlns:p14="http://schemas.microsoft.com/office/powerpoint/2010/main" val="9510484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2026-10-22T08:35:13.8130000Z</dcterms:created>
  <dcterms:modified xsi:type="dcterms:W3CDTF">2026-10-22T08:35:13.8130000Z</dcterms:modified>
</coreProperties>
</file>